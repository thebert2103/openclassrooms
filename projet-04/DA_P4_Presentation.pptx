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4.xml" ContentType="application/vnd.openxmlformats-officedocument.presentationml.notesSlide+xml"/>
  <Override PartName="/ppt/charts/chart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5.xml" ContentType="application/vnd.openxmlformats-officedocument.presentationml.notesSlide+xml"/>
  <Override PartName="/ppt/charts/chart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6.xml" ContentType="application/vnd.openxmlformats-officedocument.presentationml.notesSlide+xml"/>
  <Override PartName="/ppt/charts/chart10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1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2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3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4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56" r:id="rId5"/>
    <p:sldId id="286" r:id="rId6"/>
    <p:sldId id="257" r:id="rId7"/>
    <p:sldId id="289" r:id="rId8"/>
    <p:sldId id="287" r:id="rId9"/>
    <p:sldId id="277" r:id="rId10"/>
    <p:sldId id="274" r:id="rId11"/>
    <p:sldId id="278" r:id="rId12"/>
    <p:sldId id="276" r:id="rId13"/>
    <p:sldId id="262" r:id="rId14"/>
    <p:sldId id="263" r:id="rId15"/>
    <p:sldId id="264" r:id="rId16"/>
    <p:sldId id="265" r:id="rId17"/>
    <p:sldId id="266" r:id="rId18"/>
    <p:sldId id="267" r:id="rId19"/>
    <p:sldId id="270" r:id="rId20"/>
    <p:sldId id="279" r:id="rId21"/>
    <p:sldId id="280" r:id="rId22"/>
    <p:sldId id="281" r:id="rId23"/>
    <p:sldId id="290" r:id="rId24"/>
    <p:sldId id="282" r:id="rId25"/>
    <p:sldId id="283" r:id="rId26"/>
    <p:sldId id="288" r:id="rId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C598"/>
    <a:srgbClr val="61C0C5"/>
    <a:srgbClr val="C5618E"/>
    <a:srgbClr val="C59861"/>
    <a:srgbClr val="5792C9"/>
    <a:srgbClr val="C56661"/>
    <a:srgbClr val="618EC5"/>
    <a:srgbClr val="8EC561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2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06-48E8-96B9-A2E5ED84B16C}"/>
              </c:ext>
            </c:extLst>
          </c:dPt>
          <c:dPt>
            <c:idx val="1"/>
            <c:invertIfNegative val="0"/>
            <c:bubble3D val="0"/>
            <c:spPr>
              <a:solidFill>
                <a:srgbClr val="61C0C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206-48E8-96B9-A2E5ED84B16C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BCA79B7-EDC2-4CE2-957C-18F85FCFE129}" type="VALUE">
                      <a:rPr lang="en-US" b="0">
                        <a:solidFill>
                          <a:schemeClr val="bg1"/>
                        </a:solidFill>
                        <a:latin typeface="Montserrat SemiBold" pitchFamily="2" charset="0"/>
                      </a:rPr>
                      <a:pPr>
                        <a:defRPr/>
                      </a:pPr>
                      <a:t>[VALEUR]</a:t>
                    </a:fld>
                    <a:endParaRPr lang="fr-FR"/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2846902020683238"/>
                      <c:h val="7.5914057830089948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206-48E8-96B9-A2E5ED84B16C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5A2DB3A-2AD1-4929-A08F-2FEEE53918A6}" type="VALUE">
                      <a:rPr lang="en-US" b="0">
                        <a:solidFill>
                          <a:schemeClr val="bg1"/>
                        </a:solidFill>
                        <a:latin typeface="Montserrat SemiBold" pitchFamily="2" charset="0"/>
                      </a:rPr>
                      <a:pPr>
                        <a:defRPr/>
                      </a:pPr>
                      <a:t>[VALEUR]</a:t>
                    </a:fld>
                    <a:endParaRPr lang="fr-FR"/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81470392158257"/>
                      <c:h val="7.5914057830089948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206-48E8-96B9-A2E5ED84B16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Feuil1!$A$2:$A$3</c:f>
              <c:strCache>
                <c:ptCount val="2"/>
                <c:pt idx="0">
                  <c:v>Population mondiale</c:v>
                </c:pt>
                <c:pt idx="1">
                  <c:v>Théorique personnes nourries</c:v>
                </c:pt>
              </c:strCache>
            </c:strRef>
          </c:cat>
          <c:val>
            <c:numRef>
              <c:f>Feuil1!$B$2:$B$3</c:f>
              <c:numCache>
                <c:formatCode>General</c:formatCode>
                <c:ptCount val="2"/>
                <c:pt idx="0">
                  <c:v>7548134111</c:v>
                </c:pt>
                <c:pt idx="1">
                  <c:v>9508629376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06-48E8-96B9-A2E5ED84B1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708482800"/>
        <c:axId val="708473440"/>
      </c:barChart>
      <c:catAx>
        <c:axId val="708482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pPr>
            <a:endParaRPr lang="fr-FR"/>
          </a:p>
        </c:txPr>
        <c:crossAx val="708473440"/>
        <c:crosses val="autoZero"/>
        <c:auto val="1"/>
        <c:lblAlgn val="ctr"/>
        <c:lblOffset val="100"/>
        <c:noMultiLvlLbl val="0"/>
      </c:catAx>
      <c:valAx>
        <c:axId val="7084734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08482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F04-479B-B67B-6C388FDEE209}"/>
              </c:ext>
            </c:extLst>
          </c:dPt>
          <c:dPt>
            <c:idx val="1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F04-479B-B67B-6C388FDEE209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BCA79B7-EDC2-4CE2-957C-18F85FCFE129}" type="VALUE">
                      <a:rPr lang="en-US" b="0">
                        <a:solidFill>
                          <a:schemeClr val="bg1"/>
                        </a:solidFill>
                        <a:latin typeface="Montserrat SemiBold" pitchFamily="2" charset="0"/>
                      </a:rPr>
                      <a:pPr>
                        <a:defRPr/>
                      </a:pPr>
                      <a:t>[VALEUR]</a:t>
                    </a:fld>
                    <a:endParaRPr lang="fr-FR"/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358772504163996"/>
                      <c:h val="7.5914057830089948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F04-479B-B67B-6C388FDEE209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5A2DB3A-2AD1-4929-A08F-2FEEE53918A6}" type="VALUE">
                      <a:rPr lang="en-US" b="0">
                        <a:solidFill>
                          <a:schemeClr val="bg1"/>
                        </a:solidFill>
                        <a:latin typeface="Montserrat SemiBold" pitchFamily="2" charset="0"/>
                      </a:rPr>
                      <a:pPr>
                        <a:defRPr/>
                      </a:pPr>
                      <a:t>[VALEUR]</a:t>
                    </a:fld>
                    <a:endParaRPr lang="fr-FR"/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319722142842452"/>
                      <c:h val="7.5914057830089948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F04-479B-B67B-6C388FDEE20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Feuil1!$A$2:$A$3</c:f>
              <c:strCache>
                <c:ptCount val="2"/>
                <c:pt idx="0">
                  <c:v>Population mondiale</c:v>
                </c:pt>
                <c:pt idx="1">
                  <c:v>Théorique personnes nourries</c:v>
                </c:pt>
              </c:strCache>
            </c:strRef>
          </c:cat>
          <c:val>
            <c:numRef>
              <c:f>Feuil1!$B$2:$B$3</c:f>
              <c:numCache>
                <c:formatCode>General</c:formatCode>
                <c:ptCount val="2"/>
                <c:pt idx="0">
                  <c:v>7548134111</c:v>
                </c:pt>
                <c:pt idx="1">
                  <c:v>7891900830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F04-479B-B67B-6C388FDEE2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9"/>
        <c:overlap val="-27"/>
        <c:axId val="708482800"/>
        <c:axId val="708473440"/>
      </c:barChart>
      <c:catAx>
        <c:axId val="708482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pPr>
            <a:endParaRPr lang="fr-FR"/>
          </a:p>
        </c:txPr>
        <c:crossAx val="708473440"/>
        <c:crosses val="autoZero"/>
        <c:auto val="1"/>
        <c:lblAlgn val="ctr"/>
        <c:lblOffset val="100"/>
        <c:noMultiLvlLbl val="0"/>
      </c:catAx>
      <c:valAx>
        <c:axId val="708473440"/>
        <c:scaling>
          <c:orientation val="minMax"/>
          <c:max val="10000000000"/>
        </c:scaling>
        <c:delete val="1"/>
        <c:axPos val="l"/>
        <c:numFmt formatCode="General" sourceLinked="1"/>
        <c:majorTickMark val="none"/>
        <c:minorTickMark val="none"/>
        <c:tickLblPos val="nextTo"/>
        <c:crossAx val="708482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Colonne1</c:v>
                </c:pt>
              </c:strCache>
            </c:strRef>
          </c:tx>
          <c:spPr>
            <a:ln>
              <a:solidFill>
                <a:srgbClr val="618EC5"/>
              </a:solidFill>
            </a:ln>
          </c:spPr>
          <c:dPt>
            <c:idx val="0"/>
            <c:bubble3D val="0"/>
            <c:explosion val="5"/>
            <c:spPr>
              <a:solidFill>
                <a:srgbClr val="92D050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281-48DB-AAA8-1F198B6A3EC9}"/>
              </c:ext>
            </c:extLst>
          </c:dPt>
          <c:dPt>
            <c:idx val="1"/>
            <c:bubble3D val="0"/>
            <c:spPr>
              <a:solidFill>
                <a:schemeClr val="accent4">
                  <a:alpha val="50000"/>
                </a:schemeClr>
              </a:solidFill>
              <a:ln w="19050">
                <a:solidFill>
                  <a:srgbClr val="618EC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281-48DB-AAA8-1F198B6A3EC9}"/>
              </c:ext>
            </c:extLst>
          </c:dPt>
          <c:dPt>
            <c:idx val="2"/>
            <c:bubble3D val="0"/>
            <c:spPr>
              <a:solidFill>
                <a:srgbClr val="C00000">
                  <a:alpha val="50000"/>
                </a:srgbClr>
              </a:solidFill>
              <a:ln w="19050">
                <a:solidFill>
                  <a:srgbClr val="618EC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281-48DB-AAA8-1F198B6A3EC9}"/>
              </c:ext>
            </c:extLst>
          </c:dPt>
          <c:dPt>
            <c:idx val="3"/>
            <c:bubble3D val="0"/>
            <c:spPr>
              <a:solidFill>
                <a:schemeClr val="accent2">
                  <a:alpha val="50000"/>
                </a:schemeClr>
              </a:solidFill>
              <a:ln w="19050">
                <a:solidFill>
                  <a:srgbClr val="618EC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B281-48DB-AAA8-1F198B6A3EC9}"/>
              </c:ext>
            </c:extLst>
          </c:dPt>
          <c:dPt>
            <c:idx val="4"/>
            <c:bubble3D val="0"/>
            <c:spPr>
              <a:solidFill>
                <a:schemeClr val="accent3">
                  <a:alpha val="50000"/>
                </a:schemeClr>
              </a:solidFill>
              <a:ln w="19050">
                <a:solidFill>
                  <a:srgbClr val="618EC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281-48DB-AAA8-1F198B6A3EC9}"/>
              </c:ext>
            </c:extLst>
          </c:dPt>
          <c:dPt>
            <c:idx val="5"/>
            <c:bubble3D val="0"/>
            <c:spPr>
              <a:solidFill>
                <a:srgbClr val="7030A0">
                  <a:alpha val="50000"/>
                </a:srgbClr>
              </a:solidFill>
              <a:ln w="19050">
                <a:solidFill>
                  <a:srgbClr val="618EC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B281-48DB-AAA8-1F198B6A3EC9}"/>
              </c:ext>
            </c:extLst>
          </c:dPt>
          <c:cat>
            <c:strRef>
              <c:f>Feuil1!$A$2:$A$7</c:f>
              <c:strCache>
                <c:ptCount val="6"/>
                <c:pt idx="0">
                  <c:v>Nourriture</c:v>
                </c:pt>
                <c:pt idx="1">
                  <c:v>Autres Utilisations</c:v>
                </c:pt>
                <c:pt idx="2">
                  <c:v>Aliments pour animaux</c:v>
                </c:pt>
                <c:pt idx="3">
                  <c:v>Traitement</c:v>
                </c:pt>
                <c:pt idx="4">
                  <c:v>Semences</c:v>
                </c:pt>
                <c:pt idx="5">
                  <c:v>Pertes</c:v>
                </c:pt>
              </c:strCache>
            </c:strRef>
          </c:cat>
          <c:val>
            <c:numRef>
              <c:f>Feuil1!$B$2:$B$7</c:f>
              <c:numCache>
                <c:formatCode>General</c:formatCode>
                <c:ptCount val="6"/>
                <c:pt idx="0">
                  <c:v>49.5</c:v>
                </c:pt>
                <c:pt idx="1">
                  <c:v>8.8000000000000007</c:v>
                </c:pt>
                <c:pt idx="2">
                  <c:v>13.2</c:v>
                </c:pt>
                <c:pt idx="3">
                  <c:v>22.4</c:v>
                </c:pt>
                <c:pt idx="4">
                  <c:v>1.6</c:v>
                </c:pt>
                <c:pt idx="5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81-48DB-AAA8-1F198B6A3E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Montserrat SemiBold" pitchFamily="2" charset="0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Alimentation Humaine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618EC5"/>
                    </a:solidFill>
                    <a:latin typeface="Montserrat SemiBold" pitchFamily="2" charset="0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Feuil1!$A$2:$A$10</c:f>
              <c:strCache>
                <c:ptCount val="9"/>
                <c:pt idx="0">
                  <c:v>Riz</c:v>
                </c:pt>
                <c:pt idx="1">
                  <c:v>Millet</c:v>
                </c:pt>
                <c:pt idx="2">
                  <c:v>Blé</c:v>
                </c:pt>
                <c:pt idx="3">
                  <c:v>Sorgho</c:v>
                </c:pt>
                <c:pt idx="4">
                  <c:v>seigle</c:v>
                </c:pt>
                <c:pt idx="5">
                  <c:v>Céréales, Autres</c:v>
                </c:pt>
                <c:pt idx="6">
                  <c:v>Avoine</c:v>
                </c:pt>
                <c:pt idx="7">
                  <c:v>Maïs</c:v>
                </c:pt>
                <c:pt idx="8">
                  <c:v>Orge</c:v>
                </c:pt>
              </c:strCache>
            </c:strRef>
          </c:cat>
          <c:val>
            <c:numRef>
              <c:f>Feuil1!$B$2:$B$10</c:f>
              <c:numCache>
                <c:formatCode>0%</c:formatCode>
                <c:ptCount val="9"/>
                <c:pt idx="0" formatCode="0.00%">
                  <c:v>0.79300000000000004</c:v>
                </c:pt>
                <c:pt idx="1">
                  <c:v>0.77</c:v>
                </c:pt>
                <c:pt idx="2" formatCode="0.00%">
                  <c:v>0.67400000000000004</c:v>
                </c:pt>
                <c:pt idx="3" formatCode="0.00%">
                  <c:v>0.41499999999999998</c:v>
                </c:pt>
                <c:pt idx="4" formatCode="0.00%">
                  <c:v>0.33200000000000002</c:v>
                </c:pt>
                <c:pt idx="5" formatCode="0.00%">
                  <c:v>0.191</c:v>
                </c:pt>
                <c:pt idx="6" formatCode="0.00%">
                  <c:v>0.16700000000000001</c:v>
                </c:pt>
                <c:pt idx="7" formatCode="0.00%">
                  <c:v>0.13100000000000001</c:v>
                </c:pt>
                <c:pt idx="8" formatCode="0.00%">
                  <c:v>4.8000000000000001E-2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FF-48C3-AD6E-57FF76D6ABF5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Alimentation Animale</c:v>
                </c:pt>
              </c:strCache>
            </c:strRef>
          </c:tx>
          <c:spPr>
            <a:solidFill>
              <a:srgbClr val="C5666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Montserrat SemiBold" pitchFamily="2" charset="0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Feuil1!$A$2:$A$10</c:f>
              <c:strCache>
                <c:ptCount val="9"/>
                <c:pt idx="0">
                  <c:v>Riz</c:v>
                </c:pt>
                <c:pt idx="1">
                  <c:v>Millet</c:v>
                </c:pt>
                <c:pt idx="2">
                  <c:v>Blé</c:v>
                </c:pt>
                <c:pt idx="3">
                  <c:v>Sorgho</c:v>
                </c:pt>
                <c:pt idx="4">
                  <c:v>seigle</c:v>
                </c:pt>
                <c:pt idx="5">
                  <c:v>Céréales, Autres</c:v>
                </c:pt>
                <c:pt idx="6">
                  <c:v>Avoine</c:v>
                </c:pt>
                <c:pt idx="7">
                  <c:v>Maïs</c:v>
                </c:pt>
                <c:pt idx="8">
                  <c:v>Orge</c:v>
                </c:pt>
              </c:strCache>
            </c:strRef>
          </c:cat>
          <c:val>
            <c:numRef>
              <c:f>Feuil1!$C$2:$C$10</c:f>
              <c:numCache>
                <c:formatCode>0.00%</c:formatCode>
                <c:ptCount val="9"/>
                <c:pt idx="0">
                  <c:v>7.0999999999999994E-2</c:v>
                </c:pt>
                <c:pt idx="1">
                  <c:v>0.111</c:v>
                </c:pt>
                <c:pt idx="2">
                  <c:v>0.191</c:v>
                </c:pt>
                <c:pt idx="3">
                  <c:v>0.42599999999999999</c:v>
                </c:pt>
                <c:pt idx="4">
                  <c:v>0.48899999999999999</c:v>
                </c:pt>
                <c:pt idx="5">
                  <c:v>0.68200000000000005</c:v>
                </c:pt>
                <c:pt idx="6">
                  <c:v>0.69499999999999995</c:v>
                </c:pt>
                <c:pt idx="7">
                  <c:v>0.57099999999999995</c:v>
                </c:pt>
                <c:pt idx="8" formatCode="0%">
                  <c:v>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FF-48C3-AD6E-57FF76D6AB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786426464"/>
        <c:axId val="788860808"/>
      </c:barChart>
      <c:catAx>
        <c:axId val="786426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pPr>
            <a:endParaRPr lang="fr-FR"/>
          </a:p>
        </c:txPr>
        <c:crossAx val="788860808"/>
        <c:crosses val="autoZero"/>
        <c:auto val="1"/>
        <c:lblAlgn val="ctr"/>
        <c:lblOffset val="100"/>
        <c:noMultiLvlLbl val="0"/>
      </c:catAx>
      <c:valAx>
        <c:axId val="788860808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786426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Montserrat SemiBold" pitchFamily="2" charset="0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861184552084773"/>
          <c:y val="3.8634853892772658E-2"/>
          <c:w val="0.63475204556459941"/>
          <c:h val="0.9227302922144546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C00000">
                <a:alpha val="91000"/>
              </a:srgbClr>
            </a:solidFill>
            <a:ln>
              <a:solidFill>
                <a:srgbClr val="618EC5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Montserrat SemiBold" pitchFamily="2" charset="0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Feuil1!$A$2:$A$11</c:f>
              <c:strCache>
                <c:ptCount val="10"/>
                <c:pt idx="0">
                  <c:v>Afghanistan</c:v>
                </c:pt>
                <c:pt idx="1">
                  <c:v>Timor-leste</c:v>
                </c:pt>
                <c:pt idx="2">
                  <c:v>Mozambique</c:v>
                </c:pt>
                <c:pt idx="3">
                  <c:v>Rwanda</c:v>
                </c:pt>
                <c:pt idx="4">
                  <c:v>Tchad</c:v>
                </c:pt>
                <c:pt idx="5">
                  <c:v>Lesotho</c:v>
                </c:pt>
                <c:pt idx="6">
                  <c:v>Libéria</c:v>
                </c:pt>
                <c:pt idx="7">
                  <c:v>Madagascar</c:v>
                </c:pt>
                <c:pt idx="8">
                  <c:v>Corée du Nord</c:v>
                </c:pt>
                <c:pt idx="9">
                  <c:v>Haïti</c:v>
                </c:pt>
              </c:strCache>
            </c:strRef>
          </c:cat>
          <c:val>
            <c:numRef>
              <c:f>Feuil1!$B$2:$B$11</c:f>
              <c:numCache>
                <c:formatCode>0.00%</c:formatCode>
                <c:ptCount val="10"/>
                <c:pt idx="0">
                  <c:v>0.2893</c:v>
                </c:pt>
                <c:pt idx="1">
                  <c:v>0.32169999999999999</c:v>
                </c:pt>
                <c:pt idx="2">
                  <c:v>0.3281</c:v>
                </c:pt>
                <c:pt idx="3">
                  <c:v>0.35060000000000002</c:v>
                </c:pt>
                <c:pt idx="4">
                  <c:v>0.37959999999999999</c:v>
                </c:pt>
                <c:pt idx="5">
                  <c:v>0.38250000000000001</c:v>
                </c:pt>
                <c:pt idx="6">
                  <c:v>0.38279999999999997</c:v>
                </c:pt>
                <c:pt idx="7">
                  <c:v>0.41060000000000002</c:v>
                </c:pt>
                <c:pt idx="8">
                  <c:v>0.47189999999999999</c:v>
                </c:pt>
                <c:pt idx="9">
                  <c:v>0.48259999999999997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1D-456C-A805-AC9B3AEE8F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796141168"/>
        <c:axId val="796139728"/>
      </c:barChart>
      <c:catAx>
        <c:axId val="7961411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pPr>
            <a:endParaRPr lang="fr-FR"/>
          </a:p>
        </c:txPr>
        <c:crossAx val="796139728"/>
        <c:crosses val="autoZero"/>
        <c:auto val="1"/>
        <c:lblAlgn val="ctr"/>
        <c:lblOffset val="100"/>
        <c:noMultiLvlLbl val="0"/>
      </c:catAx>
      <c:valAx>
        <c:axId val="796139728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796141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861184552084773"/>
          <c:y val="3.8634853892772658E-2"/>
          <c:w val="0.63475204556459941"/>
          <c:h val="0.9227302922144546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92D050">
                <a:alpha val="91000"/>
              </a:srgbClr>
            </a:solidFill>
            <a:ln>
              <a:solidFill>
                <a:srgbClr val="618EC5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Montserrat SemiBold" pitchFamily="2" charset="0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Feuil1!$A$2:$A$11</c:f>
              <c:strCache>
                <c:ptCount val="10"/>
                <c:pt idx="0">
                  <c:v>Niger</c:v>
                </c:pt>
                <c:pt idx="1">
                  <c:v>RDC (Congo)</c:v>
                </c:pt>
                <c:pt idx="2">
                  <c:v>Somalie</c:v>
                </c:pt>
                <c:pt idx="3">
                  <c:v>Bangladesh</c:v>
                </c:pt>
                <c:pt idx="4">
                  <c:v>Kenya</c:v>
                </c:pt>
                <c:pt idx="5">
                  <c:v>Soudan</c:v>
                </c:pt>
                <c:pt idx="6">
                  <c:v>Soudan du Sud</c:v>
                </c:pt>
                <c:pt idx="7">
                  <c:v>Yémen</c:v>
                </c:pt>
                <c:pt idx="8">
                  <c:v>Ethiopie</c:v>
                </c:pt>
                <c:pt idx="9">
                  <c:v>République arabe syrienne</c:v>
                </c:pt>
              </c:strCache>
            </c:strRef>
          </c:cat>
          <c:val>
            <c:numRef>
              <c:f>Feuil1!$B$2:$B$11</c:f>
              <c:numCache>
                <c:formatCode>General</c:formatCode>
                <c:ptCount val="10"/>
                <c:pt idx="0">
                  <c:v>276344000</c:v>
                </c:pt>
                <c:pt idx="1">
                  <c:v>288502000</c:v>
                </c:pt>
                <c:pt idx="2">
                  <c:v>292678000</c:v>
                </c:pt>
                <c:pt idx="3">
                  <c:v>348188000</c:v>
                </c:pt>
                <c:pt idx="4">
                  <c:v>552836000</c:v>
                </c:pt>
                <c:pt idx="5">
                  <c:v>669784000</c:v>
                </c:pt>
                <c:pt idx="6">
                  <c:v>695248000</c:v>
                </c:pt>
                <c:pt idx="7">
                  <c:v>1206484000</c:v>
                </c:pt>
                <c:pt idx="8">
                  <c:v>1381294000</c:v>
                </c:pt>
                <c:pt idx="9">
                  <c:v>1858943000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FC-4B5F-82FA-6F449467DC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796141168"/>
        <c:axId val="796139728"/>
      </c:barChart>
      <c:catAx>
        <c:axId val="7961411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pPr>
            <a:endParaRPr lang="fr-FR"/>
          </a:p>
        </c:txPr>
        <c:crossAx val="796139728"/>
        <c:crosses val="autoZero"/>
        <c:auto val="1"/>
        <c:lblAlgn val="ctr"/>
        <c:lblOffset val="100"/>
        <c:noMultiLvlLbl val="0"/>
      </c:catAx>
      <c:valAx>
        <c:axId val="7961397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96141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République arabe syrienne</c:v>
                </c:pt>
              </c:strCache>
            </c:strRef>
          </c:tx>
          <c:spPr>
            <a:ln w="28575" cap="rnd">
              <a:solidFill>
                <a:srgbClr val="61C0C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61C0C5"/>
              </a:solidFill>
              <a:ln w="9525">
                <a:solidFill>
                  <a:srgbClr val="61C0C5"/>
                </a:solidFill>
              </a:ln>
              <a:effectLst/>
            </c:spPr>
          </c:marker>
          <c:cat>
            <c:numRef>
              <c:f>Feuil1!$A$2:$A$5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Feuil1!$B$2:$B$5</c:f>
              <c:numCache>
                <c:formatCode>General</c:formatCode>
                <c:ptCount val="4"/>
                <c:pt idx="0">
                  <c:v>563566000</c:v>
                </c:pt>
                <c:pt idx="1">
                  <c:v>651870000</c:v>
                </c:pt>
                <c:pt idx="2">
                  <c:v>524949000</c:v>
                </c:pt>
                <c:pt idx="3">
                  <c:v>118558000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B5-43B8-B538-8EA19FE591BB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Soudan</c:v>
                </c:pt>
              </c:strCache>
            </c:strRef>
          </c:tx>
          <c:spPr>
            <a:ln w="28575" cap="rnd">
              <a:solidFill>
                <a:srgbClr val="C5618E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5618E"/>
              </a:solidFill>
              <a:ln w="9525">
                <a:solidFill>
                  <a:srgbClr val="C5618E"/>
                </a:solidFill>
              </a:ln>
              <a:effectLst/>
            </c:spPr>
          </c:marker>
          <c:cat>
            <c:numRef>
              <c:f>Feuil1!$A$2:$A$5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Feuil1!$C$2:$C$5</c:f>
              <c:numCache>
                <c:formatCode>General</c:formatCode>
                <c:ptCount val="4"/>
                <c:pt idx="0">
                  <c:v>330230000</c:v>
                </c:pt>
                <c:pt idx="1">
                  <c:v>321904000</c:v>
                </c:pt>
                <c:pt idx="2">
                  <c:v>17650000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B5-43B8-B538-8EA19FE591BB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Soudan du Sud</c:v>
                </c:pt>
              </c:strCache>
            </c:strRef>
          </c:tx>
          <c:spPr>
            <a:ln w="28575" cap="rnd">
              <a:solidFill>
                <a:srgbClr val="61C598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61C598"/>
              </a:solidFill>
              <a:ln w="9525">
                <a:solidFill>
                  <a:srgbClr val="61C598"/>
                </a:solidFill>
              </a:ln>
              <a:effectLst/>
            </c:spPr>
          </c:marker>
          <c:cat>
            <c:numRef>
              <c:f>Feuil1!$A$2:$A$5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Feuil1!$D$2:$D$5</c:f>
              <c:numCache>
                <c:formatCode>General</c:formatCode>
                <c:ptCount val="4"/>
                <c:pt idx="0">
                  <c:v>196330000</c:v>
                </c:pt>
                <c:pt idx="1">
                  <c:v>450610000</c:v>
                </c:pt>
                <c:pt idx="2">
                  <c:v>48308000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B5-43B8-B538-8EA19FE591BB}"/>
            </c:ext>
          </c:extLst>
        </c:ser>
        <c:ser>
          <c:idx val="3"/>
          <c:order val="3"/>
          <c:tx>
            <c:strRef>
              <c:f>Feuil1!$E$1</c:f>
              <c:strCache>
                <c:ptCount val="1"/>
                <c:pt idx="0">
                  <c:v>Yémen</c:v>
                </c:pt>
              </c:strCache>
            </c:strRef>
          </c:tx>
          <c:spPr>
            <a:ln w="28575" cap="rnd">
              <a:solidFill>
                <a:srgbClr val="C5986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59861"/>
              </a:solidFill>
              <a:ln w="9525">
                <a:solidFill>
                  <a:srgbClr val="C59861"/>
                </a:solidFill>
              </a:ln>
              <a:effectLst/>
            </c:spPr>
          </c:marker>
          <c:cat>
            <c:numRef>
              <c:f>Feuil1!$A$2:$A$5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Feuil1!$E$2:$E$5</c:f>
              <c:numCache>
                <c:formatCode>General</c:formatCode>
                <c:ptCount val="4"/>
                <c:pt idx="0">
                  <c:v>264764000</c:v>
                </c:pt>
                <c:pt idx="1">
                  <c:v>103840000</c:v>
                </c:pt>
                <c:pt idx="2">
                  <c:v>372306000</c:v>
                </c:pt>
                <c:pt idx="3">
                  <c:v>465574000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EB5-43B8-B538-8EA19FE591BB}"/>
            </c:ext>
          </c:extLst>
        </c:ser>
        <c:ser>
          <c:idx val="4"/>
          <c:order val="4"/>
          <c:tx>
            <c:strRef>
              <c:f>Feuil1!$F$1</c:f>
              <c:strCache>
                <c:ptCount val="1"/>
                <c:pt idx="0">
                  <c:v>Éthiopie</c:v>
                </c:pt>
              </c:strCache>
            </c:strRef>
          </c:tx>
          <c:spPr>
            <a:ln w="28575" cap="rnd">
              <a:solidFill>
                <a:srgbClr val="8EC56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8EC561"/>
              </a:solidFill>
              <a:ln w="9525">
                <a:solidFill>
                  <a:srgbClr val="8EC561"/>
                </a:solidFill>
              </a:ln>
              <a:effectLst/>
            </c:spPr>
          </c:marker>
          <c:cat>
            <c:numRef>
              <c:f>Feuil1!$A$2:$A$5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Feuil1!$F$2:$F$5</c:f>
              <c:numCache>
                <c:formatCode>General</c:formatCode>
                <c:ptCount val="4"/>
                <c:pt idx="0">
                  <c:v>591404000</c:v>
                </c:pt>
                <c:pt idx="1">
                  <c:v>586624000</c:v>
                </c:pt>
                <c:pt idx="2">
                  <c:v>203266000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EB5-43B8-B538-8EA19FE591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38973896"/>
        <c:axId val="438972816"/>
      </c:lineChart>
      <c:catAx>
        <c:axId val="438973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pPr>
            <a:endParaRPr lang="fr-FR"/>
          </a:p>
        </c:txPr>
        <c:crossAx val="438972816"/>
        <c:crosses val="autoZero"/>
        <c:auto val="1"/>
        <c:lblAlgn val="ctr"/>
        <c:lblOffset val="100"/>
        <c:noMultiLvlLbl val="0"/>
      </c:catAx>
      <c:valAx>
        <c:axId val="438972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pPr>
            <a:endParaRPr lang="fr-FR"/>
          </a:p>
        </c:txPr>
        <c:crossAx val="438973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9791363191886447E-2"/>
          <c:y val="0.90214019753509589"/>
          <c:w val="0.95492227680361375"/>
          <c:h val="9.78598024649041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bg1"/>
              </a:solidFill>
              <a:latin typeface="Montserrat SemiBold" pitchFamily="2" charset="0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8EC56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Montserrat SemiBold" pitchFamily="2" charset="0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Feuil1!$A$2:$A$11</c:f>
              <c:strCache>
                <c:ptCount val="10"/>
                <c:pt idx="0">
                  <c:v>Autriche</c:v>
                </c:pt>
                <c:pt idx="1">
                  <c:v>Belgique</c:v>
                </c:pt>
                <c:pt idx="2">
                  <c:v>Turquie</c:v>
                </c:pt>
                <c:pt idx="3">
                  <c:v>États-Unis d'Amérique</c:v>
                </c:pt>
                <c:pt idx="4">
                  <c:v>Israël</c:v>
                </c:pt>
                <c:pt idx="5">
                  <c:v>Irlande</c:v>
                </c:pt>
                <c:pt idx="6">
                  <c:v>Italie</c:v>
                </c:pt>
                <c:pt idx="7">
                  <c:v>Luxembourg</c:v>
                </c:pt>
                <c:pt idx="8">
                  <c:v>Égypte</c:v>
                </c:pt>
                <c:pt idx="9">
                  <c:v>Allemagne</c:v>
                </c:pt>
              </c:strCache>
            </c:strRef>
          </c:cat>
          <c:val>
            <c:numRef>
              <c:f>Feuil1!$B$2:$B$11</c:f>
              <c:numCache>
                <c:formatCode>General</c:formatCode>
                <c:ptCount val="10"/>
                <c:pt idx="0">
                  <c:v>3770</c:v>
                </c:pt>
                <c:pt idx="1">
                  <c:v>3737</c:v>
                </c:pt>
                <c:pt idx="2">
                  <c:v>3708</c:v>
                </c:pt>
                <c:pt idx="3">
                  <c:v>3682</c:v>
                </c:pt>
                <c:pt idx="4">
                  <c:v>3610</c:v>
                </c:pt>
                <c:pt idx="5">
                  <c:v>3602</c:v>
                </c:pt>
                <c:pt idx="6">
                  <c:v>3578</c:v>
                </c:pt>
                <c:pt idx="7">
                  <c:v>3540</c:v>
                </c:pt>
                <c:pt idx="8">
                  <c:v>3518</c:v>
                </c:pt>
                <c:pt idx="9">
                  <c:v>3503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44-4789-96AD-02F8BC5AC5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87034176"/>
        <c:axId val="487030936"/>
      </c:barChart>
      <c:lineChart>
        <c:grouping val="standard"/>
        <c:varyColors val="0"/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Feuil1!$A$2:$A$11</c:f>
              <c:strCache>
                <c:ptCount val="10"/>
                <c:pt idx="0">
                  <c:v>Autriche</c:v>
                </c:pt>
                <c:pt idx="1">
                  <c:v>Belgique</c:v>
                </c:pt>
                <c:pt idx="2">
                  <c:v>Turquie</c:v>
                </c:pt>
                <c:pt idx="3">
                  <c:v>États-Unis d'Amérique</c:v>
                </c:pt>
                <c:pt idx="4">
                  <c:v>Israël</c:v>
                </c:pt>
                <c:pt idx="5">
                  <c:v>Irlande</c:v>
                </c:pt>
                <c:pt idx="6">
                  <c:v>Italie</c:v>
                </c:pt>
                <c:pt idx="7">
                  <c:v>Luxembourg</c:v>
                </c:pt>
                <c:pt idx="8">
                  <c:v>Égypte</c:v>
                </c:pt>
                <c:pt idx="9">
                  <c:v>Allemagne</c:v>
                </c:pt>
              </c:strCache>
            </c:strRef>
          </c:cat>
          <c:val>
            <c:numRef>
              <c:f>Feuil1!$C$2:$C$11</c:f>
              <c:numCache>
                <c:formatCode>General</c:formatCode>
                <c:ptCount val="10"/>
                <c:pt idx="0">
                  <c:v>2200</c:v>
                </c:pt>
                <c:pt idx="1">
                  <c:v>2200</c:v>
                </c:pt>
                <c:pt idx="2">
                  <c:v>2200</c:v>
                </c:pt>
                <c:pt idx="3">
                  <c:v>2200</c:v>
                </c:pt>
                <c:pt idx="4">
                  <c:v>2200</c:v>
                </c:pt>
                <c:pt idx="5">
                  <c:v>2200</c:v>
                </c:pt>
                <c:pt idx="6">
                  <c:v>2200</c:v>
                </c:pt>
                <c:pt idx="7">
                  <c:v>2200</c:v>
                </c:pt>
                <c:pt idx="8">
                  <c:v>2200</c:v>
                </c:pt>
                <c:pt idx="9">
                  <c:v>2200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A8-44E5-A7A6-C43343B1DD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7034176"/>
        <c:axId val="487030936"/>
      </c:lineChart>
      <c:catAx>
        <c:axId val="487034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pPr>
            <a:endParaRPr lang="fr-FR"/>
          </a:p>
        </c:txPr>
        <c:crossAx val="487030936"/>
        <c:crosses val="autoZero"/>
        <c:auto val="1"/>
        <c:lblAlgn val="ctr"/>
        <c:lblOffset val="100"/>
        <c:noMultiLvlLbl val="0"/>
      </c:catAx>
      <c:valAx>
        <c:axId val="4870309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7034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Montserrat SemiBold" pitchFamily="2" charset="0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Feuil1!$A$2:$A$11</c:f>
              <c:strCache>
                <c:ptCount val="10"/>
                <c:pt idx="0">
                  <c:v>République centrafricaine</c:v>
                </c:pt>
                <c:pt idx="1">
                  <c:v>Zambie</c:v>
                </c:pt>
                <c:pt idx="2">
                  <c:v>Madagascar</c:v>
                </c:pt>
                <c:pt idx="3">
                  <c:v>Afghanistan</c:v>
                </c:pt>
                <c:pt idx="4">
                  <c:v>Haïti</c:v>
                </c:pt>
                <c:pt idx="5">
                  <c:v>Corée du Nord</c:v>
                </c:pt>
                <c:pt idx="6">
                  <c:v>Tchad</c:v>
                </c:pt>
                <c:pt idx="7">
                  <c:v>Zimbabwe</c:v>
                </c:pt>
                <c:pt idx="8">
                  <c:v>Ouganda</c:v>
                </c:pt>
                <c:pt idx="9">
                  <c:v>Timor-Leste</c:v>
                </c:pt>
              </c:strCache>
            </c:strRef>
          </c:cat>
          <c:val>
            <c:numRef>
              <c:f>Feuil1!$B$2:$B$11</c:f>
              <c:numCache>
                <c:formatCode>General</c:formatCode>
                <c:ptCount val="10"/>
                <c:pt idx="0">
                  <c:v>1879</c:v>
                </c:pt>
                <c:pt idx="1">
                  <c:v>1924</c:v>
                </c:pt>
                <c:pt idx="2">
                  <c:v>2056</c:v>
                </c:pt>
                <c:pt idx="3">
                  <c:v>2087</c:v>
                </c:pt>
                <c:pt idx="4">
                  <c:v>2089</c:v>
                </c:pt>
                <c:pt idx="5">
                  <c:v>2093</c:v>
                </c:pt>
                <c:pt idx="6">
                  <c:v>2109</c:v>
                </c:pt>
                <c:pt idx="7">
                  <c:v>2113</c:v>
                </c:pt>
                <c:pt idx="8">
                  <c:v>2126</c:v>
                </c:pt>
                <c:pt idx="9">
                  <c:v>2129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62-4CA1-A143-1912E53C90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47921440"/>
        <c:axId val="647918560"/>
      </c:barChart>
      <c:lineChart>
        <c:grouping val="standard"/>
        <c:varyColors val="0"/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Feuil1!$A$2:$A$11</c:f>
              <c:strCache>
                <c:ptCount val="10"/>
                <c:pt idx="0">
                  <c:v>République centrafricaine</c:v>
                </c:pt>
                <c:pt idx="1">
                  <c:v>Zambie</c:v>
                </c:pt>
                <c:pt idx="2">
                  <c:v>Madagascar</c:v>
                </c:pt>
                <c:pt idx="3">
                  <c:v>Afghanistan</c:v>
                </c:pt>
                <c:pt idx="4">
                  <c:v>Haïti</c:v>
                </c:pt>
                <c:pt idx="5">
                  <c:v>Corée du Nord</c:v>
                </c:pt>
                <c:pt idx="6">
                  <c:v>Tchad</c:v>
                </c:pt>
                <c:pt idx="7">
                  <c:v>Zimbabwe</c:v>
                </c:pt>
                <c:pt idx="8">
                  <c:v>Ouganda</c:v>
                </c:pt>
                <c:pt idx="9">
                  <c:v>Timor-Leste</c:v>
                </c:pt>
              </c:strCache>
            </c:strRef>
          </c:cat>
          <c:val>
            <c:numRef>
              <c:f>Feuil1!$C$2:$C$11</c:f>
              <c:numCache>
                <c:formatCode>General</c:formatCode>
                <c:ptCount val="10"/>
                <c:pt idx="0">
                  <c:v>2200</c:v>
                </c:pt>
                <c:pt idx="1">
                  <c:v>2200</c:v>
                </c:pt>
                <c:pt idx="2">
                  <c:v>2200</c:v>
                </c:pt>
                <c:pt idx="3">
                  <c:v>2200</c:v>
                </c:pt>
                <c:pt idx="4">
                  <c:v>2200</c:v>
                </c:pt>
                <c:pt idx="5">
                  <c:v>2200</c:v>
                </c:pt>
                <c:pt idx="6">
                  <c:v>2200</c:v>
                </c:pt>
                <c:pt idx="7">
                  <c:v>2200</c:v>
                </c:pt>
                <c:pt idx="8">
                  <c:v>2200</c:v>
                </c:pt>
                <c:pt idx="9">
                  <c:v>2200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44-4B81-89FB-A299A5C82D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47921440"/>
        <c:axId val="647918560"/>
      </c:lineChart>
      <c:catAx>
        <c:axId val="64792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pPr>
            <a:endParaRPr lang="fr-FR"/>
          </a:p>
        </c:txPr>
        <c:crossAx val="647918560"/>
        <c:crosses val="autoZero"/>
        <c:auto val="1"/>
        <c:lblAlgn val="ctr"/>
        <c:lblOffset val="100"/>
        <c:noMultiLvlLbl val="0"/>
      </c:catAx>
      <c:valAx>
        <c:axId val="6479185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47921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solidFill>
                <a:srgbClr val="618EC5">
                  <a:alpha val="0"/>
                </a:srgbClr>
              </a:solidFill>
              <a:ln w="19050">
                <a:solidFill>
                  <a:srgbClr val="5792C9">
                    <a:alpha val="0"/>
                  </a:srgb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F96-43CA-9A25-1436842DBAEB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AF96-43CA-9A25-1436842DBAEB}"/>
              </c:ext>
            </c:extLst>
          </c:dPt>
          <c:dPt>
            <c:idx val="2"/>
            <c:bubble3D val="0"/>
            <c:spPr>
              <a:solidFill>
                <a:srgbClr val="C5666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F935-420E-88BA-6B33E5A607E3}"/>
              </c:ext>
            </c:extLst>
          </c:dPt>
          <c:cat>
            <c:strRef>
              <c:f>Feuil1!$A$2:$A$4</c:f>
              <c:strCache>
                <c:ptCount val="3"/>
                <c:pt idx="1">
                  <c:v>Exportation</c:v>
                </c:pt>
                <c:pt idx="2">
                  <c:v>Nourriture</c:v>
                </c:pt>
              </c:strCache>
            </c:strRef>
          </c:cat>
          <c:val>
            <c:numRef>
              <c:f>Feuil1!$B$2:$B$4</c:f>
              <c:numCache>
                <c:formatCode>General</c:formatCode>
                <c:ptCount val="3"/>
                <c:pt idx="0">
                  <c:v>13.59</c:v>
                </c:pt>
                <c:pt idx="1">
                  <c:v>83.41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96-43CA-9A25-1436842DBA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4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Population mondiale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Feuil1!$A$2:$A$5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Feuil1!$B$2:$B$5</c:f>
              <c:numCache>
                <c:formatCode>General</c:formatCode>
                <c:ptCount val="4"/>
                <c:pt idx="0">
                  <c:v>6682745848</c:v>
                </c:pt>
                <c:pt idx="1">
                  <c:v>6772057771</c:v>
                </c:pt>
                <c:pt idx="2">
                  <c:v>6855367075</c:v>
                </c:pt>
                <c:pt idx="3">
                  <c:v>6935694742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EE-480E-ADE3-15FDBAFC2585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Sous-nutrition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Feuil1!$A$2:$A$5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Feuil1!$C$2:$C$5</c:f>
              <c:numCache>
                <c:formatCode>General</c:formatCode>
                <c:ptCount val="4"/>
                <c:pt idx="0">
                  <c:v>528100000</c:v>
                </c:pt>
                <c:pt idx="1">
                  <c:v>523500000</c:v>
                </c:pt>
                <c:pt idx="2">
                  <c:v>524700000</c:v>
                </c:pt>
                <c:pt idx="3">
                  <c:v>528600000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EE-480E-ADE3-15FDBAFC25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817877984"/>
        <c:axId val="817881584"/>
      </c:barChart>
      <c:lineChart>
        <c:grouping val="standard"/>
        <c:varyColors val="0"/>
        <c:ser>
          <c:idx val="2"/>
          <c:order val="2"/>
          <c:tx>
            <c:strRef>
              <c:f>Feuil1!$D$1</c:f>
              <c:strCache>
                <c:ptCount val="1"/>
                <c:pt idx="0">
                  <c:v>Aide alimentaire</c:v>
                </c:pt>
              </c:strCache>
            </c:strRef>
          </c:tx>
          <c:spPr>
            <a:ln w="28575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cat>
            <c:numRef>
              <c:f>Feuil1!$A$2:$A$5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Feuil1!$D$2:$D$5</c:f>
              <c:numCache>
                <c:formatCode>General</c:formatCode>
                <c:ptCount val="4"/>
                <c:pt idx="0">
                  <c:v>4165674000</c:v>
                </c:pt>
                <c:pt idx="1">
                  <c:v>3939152000</c:v>
                </c:pt>
                <c:pt idx="2">
                  <c:v>2187507000</c:v>
                </c:pt>
                <c:pt idx="3">
                  <c:v>743568000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EE-480E-ADE3-15FDBAFC25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7877984"/>
        <c:axId val="817881584"/>
      </c:lineChart>
      <c:catAx>
        <c:axId val="817877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pPr>
            <a:endParaRPr lang="fr-FR"/>
          </a:p>
        </c:txPr>
        <c:crossAx val="817881584"/>
        <c:crosses val="autoZero"/>
        <c:auto val="1"/>
        <c:lblAlgn val="ctr"/>
        <c:lblOffset val="100"/>
        <c:noMultiLvlLbl val="0"/>
      </c:catAx>
      <c:valAx>
        <c:axId val="8178815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17877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Montserrat SemiBold" pitchFamily="2" charset="0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Population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numRef>
              <c:f>Feuil1!$A$2:$A$6</c:f>
              <c:numCache>
                <c:formatCode>General</c:formatCod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numCache>
            </c:numRef>
          </c:cat>
          <c:val>
            <c:numRef>
              <c:f>Feuil1!$B$2:$B$6</c:f>
              <c:numCache>
                <c:formatCode>General</c:formatCode>
                <c:ptCount val="5"/>
                <c:pt idx="0">
                  <c:v>5300675</c:v>
                </c:pt>
                <c:pt idx="1">
                  <c:v>5449009</c:v>
                </c:pt>
                <c:pt idx="2">
                  <c:v>5595542</c:v>
                </c:pt>
                <c:pt idx="3">
                  <c:v>5639970</c:v>
                </c:pt>
                <c:pt idx="4">
                  <c:v>5682366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C0-4786-86B4-93CC02DAF685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Sous-nutrition</c:v>
                </c:pt>
              </c:strCache>
            </c:strRef>
          </c:tx>
          <c:spPr>
            <a:solidFill>
              <a:srgbClr val="C5618E"/>
            </a:solidFill>
            <a:ln>
              <a:noFill/>
            </a:ln>
            <a:effectLst/>
          </c:spPr>
          <c:invertIfNegative val="0"/>
          <c:cat>
            <c:numRef>
              <c:f>Feuil1!$A$2:$A$6</c:f>
              <c:numCache>
                <c:formatCode>General</c:formatCod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numCache>
            </c:numRef>
          </c:cat>
          <c:val>
            <c:numRef>
              <c:f>Feuil1!$C$2:$C$6</c:f>
              <c:numCache>
                <c:formatCode>General</c:formatCode>
                <c:ptCount val="5"/>
                <c:pt idx="0">
                  <c:v>5100000</c:v>
                </c:pt>
                <c:pt idx="1">
                  <c:v>5100000</c:v>
                </c:pt>
                <c:pt idx="2">
                  <c:v>5100000</c:v>
                </c:pt>
                <c:pt idx="3">
                  <c:v>5200000</c:v>
                </c:pt>
                <c:pt idx="4">
                  <c:v>5300000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C0-4786-86B4-93CC02DAF6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77373384"/>
        <c:axId val="977373744"/>
      </c:barChart>
      <c:catAx>
        <c:axId val="977373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pPr>
            <a:endParaRPr lang="fr-FR"/>
          </a:p>
        </c:txPr>
        <c:crossAx val="977373744"/>
        <c:crosses val="autoZero"/>
        <c:auto val="1"/>
        <c:lblAlgn val="ctr"/>
        <c:lblOffset val="100"/>
        <c:noMultiLvlLbl val="0"/>
      </c:catAx>
      <c:valAx>
        <c:axId val="977373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pPr>
            <a:endParaRPr lang="fr-FR"/>
          </a:p>
        </c:txPr>
        <c:crossAx val="977373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Montserrat SemiBold" pitchFamily="2" charset="0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Nourriture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numRef>
              <c:f>Feuil1!$A$2</c:f>
              <c:numCache>
                <c:formatCode>General</c:formatCode>
                <c:ptCount val="1"/>
              </c:numCache>
            </c:numRef>
          </c:cat>
          <c:val>
            <c:numRef>
              <c:f>Feuil1!$B$2</c:f>
              <c:numCache>
                <c:formatCode>General</c:formatCode>
                <c:ptCount val="1"/>
                <c:pt idx="0">
                  <c:v>66.42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B2-4C7C-9254-272EDBBCDFB5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Traitement</c:v>
                </c:pt>
              </c:strCache>
            </c:strRef>
          </c:tx>
          <c:spPr>
            <a:solidFill>
              <a:srgbClr val="C56661"/>
            </a:solidFill>
            <a:ln>
              <a:noFill/>
            </a:ln>
            <a:effectLst/>
          </c:spPr>
          <c:invertIfNegative val="0"/>
          <c:cat>
            <c:numRef>
              <c:f>Feuil1!$A$2</c:f>
              <c:numCache>
                <c:formatCode>General</c:formatCode>
                <c:ptCount val="1"/>
              </c:numCache>
            </c:numRef>
          </c:cat>
          <c:val>
            <c:numRef>
              <c:f>Feuil1!$C$2</c:f>
              <c:numCache>
                <c:formatCode>General</c:formatCode>
                <c:ptCount val="1"/>
                <c:pt idx="0">
                  <c:v>12.34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B2-4C7C-9254-272EDBBCDFB5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Pertes</c:v>
                </c:pt>
              </c:strCache>
            </c:strRef>
          </c:tx>
          <c:spPr>
            <a:solidFill>
              <a:srgbClr val="C59861"/>
            </a:solidFill>
            <a:ln>
              <a:noFill/>
            </a:ln>
            <a:effectLst/>
          </c:spPr>
          <c:invertIfNegative val="0"/>
          <c:cat>
            <c:numRef>
              <c:f>Feuil1!$A$2</c:f>
              <c:numCache>
                <c:formatCode>General</c:formatCode>
                <c:ptCount val="1"/>
              </c:numCache>
            </c:numRef>
          </c:cat>
          <c:val>
            <c:numRef>
              <c:f>Feuil1!$D$2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DB2-4C7C-9254-272EDBBCDFB5}"/>
            </c:ext>
          </c:extLst>
        </c:ser>
        <c:ser>
          <c:idx val="3"/>
          <c:order val="3"/>
          <c:tx>
            <c:strRef>
              <c:f>Feuil1!$E$1</c:f>
              <c:strCache>
                <c:ptCount val="1"/>
                <c:pt idx="0">
                  <c:v>Aliments pour animaux</c:v>
                </c:pt>
              </c:strCache>
            </c:strRef>
          </c:tx>
          <c:spPr>
            <a:solidFill>
              <a:srgbClr val="C5618E"/>
            </a:solidFill>
            <a:ln>
              <a:noFill/>
            </a:ln>
            <a:effectLst/>
          </c:spPr>
          <c:invertIfNegative val="0"/>
          <c:cat>
            <c:numRef>
              <c:f>Feuil1!$A$2</c:f>
              <c:numCache>
                <c:formatCode>General</c:formatCode>
                <c:ptCount val="1"/>
              </c:numCache>
            </c:numRef>
          </c:cat>
          <c:val>
            <c:numRef>
              <c:f>Feuil1!$E$2</c:f>
              <c:numCache>
                <c:formatCode>General</c:formatCode>
                <c:ptCount val="1"/>
                <c:pt idx="0">
                  <c:v>7.79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DB2-4C7C-9254-272EDBBCDFB5}"/>
            </c:ext>
          </c:extLst>
        </c:ser>
        <c:ser>
          <c:idx val="4"/>
          <c:order val="4"/>
          <c:tx>
            <c:strRef>
              <c:f>Feuil1!$F$1</c:f>
              <c:strCache>
                <c:ptCount val="1"/>
                <c:pt idx="0">
                  <c:v>Autres utilisations</c:v>
                </c:pt>
              </c:strCache>
            </c:strRef>
          </c:tx>
          <c:spPr>
            <a:solidFill>
              <a:srgbClr val="61C0C5"/>
            </a:solidFill>
            <a:ln>
              <a:noFill/>
            </a:ln>
            <a:effectLst/>
          </c:spPr>
          <c:invertIfNegative val="0"/>
          <c:cat>
            <c:numRef>
              <c:f>Feuil1!$A$2</c:f>
              <c:numCache>
                <c:formatCode>General</c:formatCode>
                <c:ptCount val="1"/>
              </c:numCache>
            </c:numRef>
          </c:cat>
          <c:val>
            <c:numRef>
              <c:f>Feuil1!$F$2</c:f>
              <c:numCache>
                <c:formatCode>General</c:formatCode>
                <c:ptCount val="1"/>
                <c:pt idx="0">
                  <c:v>1.86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DB2-4C7C-9254-272EDBBCDFB5}"/>
            </c:ext>
          </c:extLst>
        </c:ser>
        <c:ser>
          <c:idx val="5"/>
          <c:order val="5"/>
          <c:tx>
            <c:strRef>
              <c:f>Feuil1!$G$1</c:f>
              <c:strCache>
                <c:ptCount val="1"/>
                <c:pt idx="0">
                  <c:v>Semences</c:v>
                </c:pt>
              </c:strCache>
            </c:strRef>
          </c:tx>
          <c:spPr>
            <a:solidFill>
              <a:srgbClr val="61C598"/>
            </a:solidFill>
            <a:ln>
              <a:noFill/>
            </a:ln>
            <a:effectLst/>
          </c:spPr>
          <c:invertIfNegative val="0"/>
          <c:cat>
            <c:numRef>
              <c:f>Feuil1!$A$2</c:f>
              <c:numCache>
                <c:formatCode>General</c:formatCode>
                <c:ptCount val="1"/>
              </c:numCache>
            </c:numRef>
          </c:cat>
          <c:val>
            <c:numRef>
              <c:f>Feuil1!$G$2</c:f>
              <c:numCache>
                <c:formatCode>General</c:formatCode>
                <c:ptCount val="1"/>
                <c:pt idx="0">
                  <c:v>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DB2-4C7C-9254-272EDBBCDF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28767048"/>
        <c:axId val="828769208"/>
      </c:barChart>
      <c:catAx>
        <c:axId val="828767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828769208"/>
        <c:crosses val="autoZero"/>
        <c:auto val="1"/>
        <c:lblAlgn val="ctr"/>
        <c:lblOffset val="100"/>
        <c:noMultiLvlLbl val="0"/>
      </c:catAx>
      <c:valAx>
        <c:axId val="828769208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pPr>
            <a:endParaRPr lang="fr-FR"/>
          </a:p>
        </c:txPr>
        <c:crossAx val="828767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Montserrat SemiBold" pitchFamily="2" charset="0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proportion par pays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C5618E"/>
              </a:solidFill>
              <a:ln w="9525">
                <a:solidFill>
                  <a:srgbClr val="C5618E"/>
                </a:solidFill>
              </a:ln>
              <a:effectLst/>
            </c:spPr>
          </c:marker>
          <c:xVal>
            <c:numRef>
              <c:f>Feuil1!$A$2:$A$175</c:f>
              <c:numCache>
                <c:formatCode>General</c:formatCode>
                <c:ptCount val="174"/>
                <c:pt idx="0">
                  <c:v>1879</c:v>
                </c:pt>
                <c:pt idx="1">
                  <c:v>1924</c:v>
                </c:pt>
                <c:pt idx="2">
                  <c:v>2056</c:v>
                </c:pt>
                <c:pt idx="3">
                  <c:v>2087</c:v>
                </c:pt>
                <c:pt idx="4">
                  <c:v>2089</c:v>
                </c:pt>
                <c:pt idx="5">
                  <c:v>2093</c:v>
                </c:pt>
                <c:pt idx="6">
                  <c:v>2109</c:v>
                </c:pt>
                <c:pt idx="7">
                  <c:v>2113</c:v>
                </c:pt>
                <c:pt idx="8">
                  <c:v>2126</c:v>
                </c:pt>
                <c:pt idx="9">
                  <c:v>2129</c:v>
                </c:pt>
                <c:pt idx="10">
                  <c:v>2129</c:v>
                </c:pt>
                <c:pt idx="11">
                  <c:v>2166</c:v>
                </c:pt>
                <c:pt idx="12">
                  <c:v>2199</c:v>
                </c:pt>
                <c:pt idx="13">
                  <c:v>2204</c:v>
                </c:pt>
                <c:pt idx="14">
                  <c:v>2205</c:v>
                </c:pt>
                <c:pt idx="15">
                  <c:v>2206</c:v>
                </c:pt>
                <c:pt idx="16">
                  <c:v>2206</c:v>
                </c:pt>
                <c:pt idx="17">
                  <c:v>2217</c:v>
                </c:pt>
                <c:pt idx="18">
                  <c:v>2224</c:v>
                </c:pt>
                <c:pt idx="19">
                  <c:v>2250</c:v>
                </c:pt>
                <c:pt idx="20">
                  <c:v>2282</c:v>
                </c:pt>
                <c:pt idx="21">
                  <c:v>2288</c:v>
                </c:pt>
                <c:pt idx="22">
                  <c:v>2325</c:v>
                </c:pt>
                <c:pt idx="23">
                  <c:v>2326</c:v>
                </c:pt>
                <c:pt idx="24">
                  <c:v>2335</c:v>
                </c:pt>
                <c:pt idx="25">
                  <c:v>2346</c:v>
                </c:pt>
                <c:pt idx="26">
                  <c:v>2364</c:v>
                </c:pt>
                <c:pt idx="27">
                  <c:v>2383</c:v>
                </c:pt>
                <c:pt idx="28">
                  <c:v>2398</c:v>
                </c:pt>
                <c:pt idx="29">
                  <c:v>2401</c:v>
                </c:pt>
                <c:pt idx="30">
                  <c:v>2416</c:v>
                </c:pt>
                <c:pt idx="31">
                  <c:v>2416</c:v>
                </c:pt>
                <c:pt idx="32">
                  <c:v>2438</c:v>
                </c:pt>
                <c:pt idx="33">
                  <c:v>2442</c:v>
                </c:pt>
                <c:pt idx="34">
                  <c:v>2448</c:v>
                </c:pt>
                <c:pt idx="35">
                  <c:v>2453</c:v>
                </c:pt>
                <c:pt idx="36">
                  <c:v>2453</c:v>
                </c:pt>
                <c:pt idx="37">
                  <c:v>2454</c:v>
                </c:pt>
                <c:pt idx="38">
                  <c:v>2455</c:v>
                </c:pt>
                <c:pt idx="39">
                  <c:v>2473</c:v>
                </c:pt>
                <c:pt idx="40">
                  <c:v>2474</c:v>
                </c:pt>
                <c:pt idx="41">
                  <c:v>2491</c:v>
                </c:pt>
                <c:pt idx="42">
                  <c:v>2509</c:v>
                </c:pt>
                <c:pt idx="43">
                  <c:v>2528</c:v>
                </c:pt>
                <c:pt idx="44">
                  <c:v>2537</c:v>
                </c:pt>
                <c:pt idx="45">
                  <c:v>2542</c:v>
                </c:pt>
                <c:pt idx="46">
                  <c:v>2549</c:v>
                </c:pt>
                <c:pt idx="47">
                  <c:v>2567</c:v>
                </c:pt>
                <c:pt idx="48">
                  <c:v>2568</c:v>
                </c:pt>
                <c:pt idx="49">
                  <c:v>2574</c:v>
                </c:pt>
                <c:pt idx="50">
                  <c:v>2576</c:v>
                </c:pt>
                <c:pt idx="51">
                  <c:v>2584</c:v>
                </c:pt>
                <c:pt idx="52">
                  <c:v>2589</c:v>
                </c:pt>
                <c:pt idx="53">
                  <c:v>2605</c:v>
                </c:pt>
                <c:pt idx="54">
                  <c:v>2609</c:v>
                </c:pt>
                <c:pt idx="55">
                  <c:v>2611</c:v>
                </c:pt>
                <c:pt idx="56">
                  <c:v>2619</c:v>
                </c:pt>
                <c:pt idx="57">
                  <c:v>2621</c:v>
                </c:pt>
                <c:pt idx="58">
                  <c:v>2633</c:v>
                </c:pt>
                <c:pt idx="59">
                  <c:v>2638</c:v>
                </c:pt>
                <c:pt idx="60">
                  <c:v>2639</c:v>
                </c:pt>
                <c:pt idx="61">
                  <c:v>2646</c:v>
                </c:pt>
                <c:pt idx="62">
                  <c:v>2668</c:v>
                </c:pt>
                <c:pt idx="63">
                  <c:v>2669</c:v>
                </c:pt>
                <c:pt idx="64">
                  <c:v>2670</c:v>
                </c:pt>
                <c:pt idx="65">
                  <c:v>2672</c:v>
                </c:pt>
                <c:pt idx="66">
                  <c:v>2697</c:v>
                </c:pt>
                <c:pt idx="67">
                  <c:v>2700</c:v>
                </c:pt>
                <c:pt idx="68">
                  <c:v>2715</c:v>
                </c:pt>
                <c:pt idx="69">
                  <c:v>2717</c:v>
                </c:pt>
                <c:pt idx="70">
                  <c:v>2725</c:v>
                </c:pt>
                <c:pt idx="71">
                  <c:v>2726</c:v>
                </c:pt>
                <c:pt idx="72">
                  <c:v>2731</c:v>
                </c:pt>
                <c:pt idx="73">
                  <c:v>2733</c:v>
                </c:pt>
                <c:pt idx="74">
                  <c:v>2742</c:v>
                </c:pt>
                <c:pt idx="75">
                  <c:v>2744</c:v>
                </c:pt>
                <c:pt idx="76">
                  <c:v>2746</c:v>
                </c:pt>
                <c:pt idx="77">
                  <c:v>2752</c:v>
                </c:pt>
                <c:pt idx="78">
                  <c:v>2759</c:v>
                </c:pt>
                <c:pt idx="79">
                  <c:v>2762</c:v>
                </c:pt>
                <c:pt idx="80">
                  <c:v>2776</c:v>
                </c:pt>
                <c:pt idx="81">
                  <c:v>2785</c:v>
                </c:pt>
                <c:pt idx="82">
                  <c:v>2797</c:v>
                </c:pt>
                <c:pt idx="83">
                  <c:v>2800</c:v>
                </c:pt>
                <c:pt idx="84">
                  <c:v>2817</c:v>
                </c:pt>
                <c:pt idx="85">
                  <c:v>2826</c:v>
                </c:pt>
                <c:pt idx="86">
                  <c:v>2828</c:v>
                </c:pt>
                <c:pt idx="87">
                  <c:v>2833</c:v>
                </c:pt>
                <c:pt idx="88">
                  <c:v>2836</c:v>
                </c:pt>
                <c:pt idx="89">
                  <c:v>2846</c:v>
                </c:pt>
                <c:pt idx="90">
                  <c:v>2855</c:v>
                </c:pt>
                <c:pt idx="91">
                  <c:v>2875</c:v>
                </c:pt>
                <c:pt idx="92">
                  <c:v>2887</c:v>
                </c:pt>
                <c:pt idx="93">
                  <c:v>2902</c:v>
                </c:pt>
                <c:pt idx="94">
                  <c:v>2914</c:v>
                </c:pt>
                <c:pt idx="95">
                  <c:v>2915</c:v>
                </c:pt>
                <c:pt idx="96">
                  <c:v>2923</c:v>
                </c:pt>
                <c:pt idx="97">
                  <c:v>2924</c:v>
                </c:pt>
                <c:pt idx="98">
                  <c:v>2930</c:v>
                </c:pt>
                <c:pt idx="99">
                  <c:v>2936</c:v>
                </c:pt>
                <c:pt idx="100">
                  <c:v>2943</c:v>
                </c:pt>
                <c:pt idx="101">
                  <c:v>2943</c:v>
                </c:pt>
                <c:pt idx="102">
                  <c:v>2946</c:v>
                </c:pt>
                <c:pt idx="103">
                  <c:v>2956</c:v>
                </c:pt>
                <c:pt idx="104">
                  <c:v>2965</c:v>
                </c:pt>
                <c:pt idx="105">
                  <c:v>2980</c:v>
                </c:pt>
                <c:pt idx="106">
                  <c:v>2985</c:v>
                </c:pt>
                <c:pt idx="107">
                  <c:v>2998</c:v>
                </c:pt>
                <c:pt idx="108">
                  <c:v>3014</c:v>
                </c:pt>
                <c:pt idx="109">
                  <c:v>3020</c:v>
                </c:pt>
                <c:pt idx="110">
                  <c:v>3034</c:v>
                </c:pt>
                <c:pt idx="111">
                  <c:v>3042</c:v>
                </c:pt>
                <c:pt idx="112">
                  <c:v>3049</c:v>
                </c:pt>
                <c:pt idx="113">
                  <c:v>3052</c:v>
                </c:pt>
                <c:pt idx="114">
                  <c:v>3056</c:v>
                </c:pt>
                <c:pt idx="115">
                  <c:v>3059</c:v>
                </c:pt>
                <c:pt idx="116">
                  <c:v>3067</c:v>
                </c:pt>
                <c:pt idx="117">
                  <c:v>3068</c:v>
                </c:pt>
                <c:pt idx="118">
                  <c:v>3089</c:v>
                </c:pt>
                <c:pt idx="119">
                  <c:v>3099</c:v>
                </c:pt>
                <c:pt idx="120">
                  <c:v>3112</c:v>
                </c:pt>
                <c:pt idx="121">
                  <c:v>3113</c:v>
                </c:pt>
                <c:pt idx="122">
                  <c:v>3136</c:v>
                </c:pt>
                <c:pt idx="123">
                  <c:v>3138</c:v>
                </c:pt>
                <c:pt idx="124">
                  <c:v>3140</c:v>
                </c:pt>
                <c:pt idx="125">
                  <c:v>3156</c:v>
                </c:pt>
                <c:pt idx="126">
                  <c:v>3168</c:v>
                </c:pt>
                <c:pt idx="127">
                  <c:v>3172</c:v>
                </c:pt>
                <c:pt idx="128">
                  <c:v>3173</c:v>
                </c:pt>
                <c:pt idx="129">
                  <c:v>3180</c:v>
                </c:pt>
                <c:pt idx="130">
                  <c:v>3188</c:v>
                </c:pt>
                <c:pt idx="131">
                  <c:v>3222</c:v>
                </c:pt>
                <c:pt idx="132">
                  <c:v>3226</c:v>
                </c:pt>
                <c:pt idx="133">
                  <c:v>3248</c:v>
                </c:pt>
                <c:pt idx="134">
                  <c:v>3249</c:v>
                </c:pt>
                <c:pt idx="135">
                  <c:v>3255</c:v>
                </c:pt>
                <c:pt idx="136">
                  <c:v>3255</c:v>
                </c:pt>
                <c:pt idx="137">
                  <c:v>3262</c:v>
                </c:pt>
                <c:pt idx="138">
                  <c:v>3262</c:v>
                </c:pt>
                <c:pt idx="139">
                  <c:v>3275</c:v>
                </c:pt>
                <c:pt idx="140">
                  <c:v>3278</c:v>
                </c:pt>
                <c:pt idx="141">
                  <c:v>3286</c:v>
                </c:pt>
                <c:pt idx="142">
                  <c:v>3293</c:v>
                </c:pt>
                <c:pt idx="143">
                  <c:v>3333</c:v>
                </c:pt>
                <c:pt idx="144">
                  <c:v>3349</c:v>
                </c:pt>
                <c:pt idx="145">
                  <c:v>3359</c:v>
                </c:pt>
                <c:pt idx="146">
                  <c:v>3360</c:v>
                </c:pt>
                <c:pt idx="147">
                  <c:v>3366</c:v>
                </c:pt>
                <c:pt idx="148">
                  <c:v>3366</c:v>
                </c:pt>
                <c:pt idx="149">
                  <c:v>3374</c:v>
                </c:pt>
                <c:pt idx="150">
                  <c:v>3381</c:v>
                </c:pt>
                <c:pt idx="151">
                  <c:v>3393</c:v>
                </c:pt>
                <c:pt idx="152">
                  <c:v>3394</c:v>
                </c:pt>
                <c:pt idx="153">
                  <c:v>3402</c:v>
                </c:pt>
                <c:pt idx="154">
                  <c:v>3402</c:v>
                </c:pt>
                <c:pt idx="155">
                  <c:v>3414</c:v>
                </c:pt>
                <c:pt idx="156">
                  <c:v>3425</c:v>
                </c:pt>
                <c:pt idx="157">
                  <c:v>3450</c:v>
                </c:pt>
                <c:pt idx="158">
                  <c:v>3472</c:v>
                </c:pt>
                <c:pt idx="159">
                  <c:v>3482</c:v>
                </c:pt>
                <c:pt idx="160">
                  <c:v>3483</c:v>
                </c:pt>
                <c:pt idx="161">
                  <c:v>3490</c:v>
                </c:pt>
                <c:pt idx="162">
                  <c:v>3499</c:v>
                </c:pt>
                <c:pt idx="163">
                  <c:v>3499</c:v>
                </c:pt>
                <c:pt idx="164">
                  <c:v>3503</c:v>
                </c:pt>
                <c:pt idx="165">
                  <c:v>3518</c:v>
                </c:pt>
                <c:pt idx="166">
                  <c:v>3540</c:v>
                </c:pt>
                <c:pt idx="167">
                  <c:v>3578</c:v>
                </c:pt>
                <c:pt idx="168">
                  <c:v>3602</c:v>
                </c:pt>
                <c:pt idx="169">
                  <c:v>3610</c:v>
                </c:pt>
                <c:pt idx="170">
                  <c:v>3682</c:v>
                </c:pt>
                <c:pt idx="171">
                  <c:v>3708</c:v>
                </c:pt>
                <c:pt idx="172">
                  <c:v>3737</c:v>
                </c:pt>
                <c:pt idx="173">
                  <c:v>3770</c:v>
                </c:pt>
              </c:numCache>
            </c:numRef>
          </c:xVal>
          <c:yVal>
            <c:numRef>
              <c:f>Feuil1!$B$2:$B$175</c:f>
              <c:numCache>
                <c:formatCode>General</c:formatCode>
                <c:ptCount val="174"/>
                <c:pt idx="0">
                  <c:v>0</c:v>
                </c:pt>
                <c:pt idx="1">
                  <c:v>0</c:v>
                </c:pt>
                <c:pt idx="2">
                  <c:v>41.06</c:v>
                </c:pt>
                <c:pt idx="3">
                  <c:v>28.93</c:v>
                </c:pt>
                <c:pt idx="4">
                  <c:v>48.26</c:v>
                </c:pt>
                <c:pt idx="5">
                  <c:v>47.19</c:v>
                </c:pt>
                <c:pt idx="6">
                  <c:v>37.96</c:v>
                </c:pt>
                <c:pt idx="7">
                  <c:v>0</c:v>
                </c:pt>
                <c:pt idx="8">
                  <c:v>0</c:v>
                </c:pt>
                <c:pt idx="9">
                  <c:v>32.17</c:v>
                </c:pt>
                <c:pt idx="10">
                  <c:v>19.829999999999998</c:v>
                </c:pt>
                <c:pt idx="11">
                  <c:v>12.49</c:v>
                </c:pt>
                <c:pt idx="12">
                  <c:v>0</c:v>
                </c:pt>
                <c:pt idx="13">
                  <c:v>24.52</c:v>
                </c:pt>
                <c:pt idx="14">
                  <c:v>23.7</c:v>
                </c:pt>
                <c:pt idx="15">
                  <c:v>38.28</c:v>
                </c:pt>
                <c:pt idx="16">
                  <c:v>27.39</c:v>
                </c:pt>
                <c:pt idx="17">
                  <c:v>0</c:v>
                </c:pt>
                <c:pt idx="18">
                  <c:v>35.06</c:v>
                </c:pt>
                <c:pt idx="19">
                  <c:v>15.19</c:v>
                </c:pt>
                <c:pt idx="20">
                  <c:v>32.81</c:v>
                </c:pt>
                <c:pt idx="21">
                  <c:v>0</c:v>
                </c:pt>
                <c:pt idx="22">
                  <c:v>22.67</c:v>
                </c:pt>
                <c:pt idx="23">
                  <c:v>17.78</c:v>
                </c:pt>
                <c:pt idx="24">
                  <c:v>12.25</c:v>
                </c:pt>
                <c:pt idx="25">
                  <c:v>8.94</c:v>
                </c:pt>
                <c:pt idx="26">
                  <c:v>18.68</c:v>
                </c:pt>
                <c:pt idx="27">
                  <c:v>0</c:v>
                </c:pt>
                <c:pt idx="28">
                  <c:v>0</c:v>
                </c:pt>
                <c:pt idx="29">
                  <c:v>26.71</c:v>
                </c:pt>
                <c:pt idx="30">
                  <c:v>15.96</c:v>
                </c:pt>
                <c:pt idx="31">
                  <c:v>0</c:v>
                </c:pt>
                <c:pt idx="32">
                  <c:v>11.93</c:v>
                </c:pt>
                <c:pt idx="33">
                  <c:v>0</c:v>
                </c:pt>
                <c:pt idx="34">
                  <c:v>20.78</c:v>
                </c:pt>
                <c:pt idx="35">
                  <c:v>13.46</c:v>
                </c:pt>
                <c:pt idx="36">
                  <c:v>9.73</c:v>
                </c:pt>
                <c:pt idx="37">
                  <c:v>14.2</c:v>
                </c:pt>
                <c:pt idx="38">
                  <c:v>0</c:v>
                </c:pt>
                <c:pt idx="39">
                  <c:v>14.99</c:v>
                </c:pt>
                <c:pt idx="40">
                  <c:v>19.45</c:v>
                </c:pt>
                <c:pt idx="41">
                  <c:v>0</c:v>
                </c:pt>
                <c:pt idx="42">
                  <c:v>19.27</c:v>
                </c:pt>
                <c:pt idx="43">
                  <c:v>38.25</c:v>
                </c:pt>
                <c:pt idx="44">
                  <c:v>7.57</c:v>
                </c:pt>
                <c:pt idx="45">
                  <c:v>23.97</c:v>
                </c:pt>
                <c:pt idx="46">
                  <c:v>0</c:v>
                </c:pt>
                <c:pt idx="47">
                  <c:v>0</c:v>
                </c:pt>
                <c:pt idx="48">
                  <c:v>14.93</c:v>
                </c:pt>
                <c:pt idx="49">
                  <c:v>13.67</c:v>
                </c:pt>
                <c:pt idx="50">
                  <c:v>9.39</c:v>
                </c:pt>
                <c:pt idx="51">
                  <c:v>8.74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5.71</c:v>
                </c:pt>
                <c:pt idx="56">
                  <c:v>7.16</c:v>
                </c:pt>
                <c:pt idx="57">
                  <c:v>13.55</c:v>
                </c:pt>
                <c:pt idx="58">
                  <c:v>27.21</c:v>
                </c:pt>
                <c:pt idx="59">
                  <c:v>17.23</c:v>
                </c:pt>
                <c:pt idx="60">
                  <c:v>13.79</c:v>
                </c:pt>
                <c:pt idx="61">
                  <c:v>0</c:v>
                </c:pt>
                <c:pt idx="62">
                  <c:v>0</c:v>
                </c:pt>
                <c:pt idx="63">
                  <c:v>6.51</c:v>
                </c:pt>
                <c:pt idx="64">
                  <c:v>0</c:v>
                </c:pt>
                <c:pt idx="65">
                  <c:v>6.15</c:v>
                </c:pt>
                <c:pt idx="66">
                  <c:v>7</c:v>
                </c:pt>
                <c:pt idx="67">
                  <c:v>11.95</c:v>
                </c:pt>
                <c:pt idx="68">
                  <c:v>0</c:v>
                </c:pt>
                <c:pt idx="69">
                  <c:v>18.760000000000002</c:v>
                </c:pt>
                <c:pt idx="70">
                  <c:v>4.53</c:v>
                </c:pt>
                <c:pt idx="71">
                  <c:v>0</c:v>
                </c:pt>
                <c:pt idx="72">
                  <c:v>7.31</c:v>
                </c:pt>
                <c:pt idx="73">
                  <c:v>0</c:v>
                </c:pt>
                <c:pt idx="74">
                  <c:v>10.27</c:v>
                </c:pt>
                <c:pt idx="75">
                  <c:v>6.87</c:v>
                </c:pt>
                <c:pt idx="76">
                  <c:v>0</c:v>
                </c:pt>
                <c:pt idx="77">
                  <c:v>0</c:v>
                </c:pt>
                <c:pt idx="78">
                  <c:v>2.82</c:v>
                </c:pt>
                <c:pt idx="79">
                  <c:v>0</c:v>
                </c:pt>
                <c:pt idx="80">
                  <c:v>8.92</c:v>
                </c:pt>
                <c:pt idx="81">
                  <c:v>8.9600000000000009</c:v>
                </c:pt>
                <c:pt idx="82">
                  <c:v>20.05</c:v>
                </c:pt>
                <c:pt idx="83">
                  <c:v>5.52</c:v>
                </c:pt>
                <c:pt idx="84">
                  <c:v>6.46</c:v>
                </c:pt>
                <c:pt idx="85">
                  <c:v>14.53</c:v>
                </c:pt>
                <c:pt idx="86">
                  <c:v>2.82</c:v>
                </c:pt>
                <c:pt idx="87">
                  <c:v>0</c:v>
                </c:pt>
                <c:pt idx="88">
                  <c:v>3.47</c:v>
                </c:pt>
                <c:pt idx="89">
                  <c:v>4.04</c:v>
                </c:pt>
                <c:pt idx="90">
                  <c:v>0</c:v>
                </c:pt>
                <c:pt idx="91">
                  <c:v>11.68</c:v>
                </c:pt>
                <c:pt idx="92">
                  <c:v>5.4</c:v>
                </c:pt>
                <c:pt idx="93">
                  <c:v>7.48</c:v>
                </c:pt>
                <c:pt idx="94">
                  <c:v>3.21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5.51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3.25</c:v>
                </c:pt>
                <c:pt idx="106">
                  <c:v>0</c:v>
                </c:pt>
                <c:pt idx="107">
                  <c:v>3.8</c:v>
                </c:pt>
                <c:pt idx="108">
                  <c:v>6.87</c:v>
                </c:pt>
                <c:pt idx="109">
                  <c:v>5.44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5.87</c:v>
                </c:pt>
                <c:pt idx="116">
                  <c:v>0</c:v>
                </c:pt>
                <c:pt idx="117">
                  <c:v>6.73</c:v>
                </c:pt>
                <c:pt idx="118">
                  <c:v>4.83</c:v>
                </c:pt>
                <c:pt idx="119">
                  <c:v>8.18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3.37</c:v>
                </c:pt>
                <c:pt idx="124">
                  <c:v>8.57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3.47</c:v>
                </c:pt>
                <c:pt idx="131">
                  <c:v>0</c:v>
                </c:pt>
                <c:pt idx="132">
                  <c:v>3.41</c:v>
                </c:pt>
                <c:pt idx="133">
                  <c:v>0</c:v>
                </c:pt>
                <c:pt idx="134">
                  <c:v>0</c:v>
                </c:pt>
                <c:pt idx="136">
                  <c:v>4.83</c:v>
                </c:pt>
                <c:pt idx="137">
                  <c:v>0</c:v>
                </c:pt>
                <c:pt idx="138">
                  <c:v>0</c:v>
                </c:pt>
                <c:pt idx="139">
                  <c:v>3.16</c:v>
                </c:pt>
                <c:pt idx="140">
                  <c:v>0</c:v>
                </c:pt>
                <c:pt idx="141">
                  <c:v>0</c:v>
                </c:pt>
                <c:pt idx="142">
                  <c:v>3.14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3.93</c:v>
                </c:pt>
                <c:pt idx="154">
                  <c:v>0</c:v>
                </c:pt>
                <c:pt idx="155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4.7699999999999996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11A-4688-AC1F-D874648652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23966000"/>
        <c:axId val="623967080"/>
      </c:scatterChart>
      <c:valAx>
        <c:axId val="623966000"/>
        <c:scaling>
          <c:orientation val="maxMin"/>
          <c:max val="4000"/>
          <c:min val="18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bg1"/>
                    </a:solidFill>
                    <a:latin typeface="Montserrat SemiBold" pitchFamily="2" charset="0"/>
                    <a:ea typeface="+mn-ea"/>
                    <a:cs typeface="+mn-cs"/>
                  </a:defRPr>
                </a:pPr>
                <a:r>
                  <a:rPr lang="fr-FR" dirty="0">
                    <a:solidFill>
                      <a:schemeClr val="bg1"/>
                    </a:solidFill>
                    <a:latin typeface="Montserrat SemiBold" pitchFamily="2" charset="0"/>
                  </a:rPr>
                  <a:t>Disponibilité alimentaire en kcal/personne/jour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bg1"/>
                  </a:solidFill>
                  <a:latin typeface="Montserrat SemiBold" pitchFamily="2" charset="0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pPr>
            <a:endParaRPr lang="fr-FR"/>
          </a:p>
        </c:txPr>
        <c:crossAx val="623967080"/>
        <c:crosses val="autoZero"/>
        <c:crossBetween val="midCat"/>
      </c:valAx>
      <c:valAx>
        <c:axId val="623967080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bg1"/>
                    </a:solidFill>
                    <a:latin typeface="Montserrat SemiBold" pitchFamily="2" charset="0"/>
                    <a:ea typeface="+mn-ea"/>
                    <a:cs typeface="+mn-cs"/>
                  </a:defRPr>
                </a:pPr>
                <a:r>
                  <a:rPr lang="fr-FR" dirty="0">
                    <a:solidFill>
                      <a:schemeClr val="bg1"/>
                    </a:solidFill>
                    <a:latin typeface="Montserrat SemiBold" pitchFamily="2" charset="0"/>
                  </a:rPr>
                  <a:t>% sous-nutrition</a:t>
                </a:r>
                <a:r>
                  <a:rPr lang="fr-FR" baseline="0" dirty="0">
                    <a:solidFill>
                      <a:schemeClr val="bg1"/>
                    </a:solidFill>
                    <a:latin typeface="Montserrat SemiBold" pitchFamily="2" charset="0"/>
                  </a:rPr>
                  <a:t> par pays</a:t>
                </a:r>
                <a:endParaRPr lang="fr-FR" dirty="0">
                  <a:solidFill>
                    <a:schemeClr val="bg1"/>
                  </a:solidFill>
                  <a:latin typeface="Montserrat SemiBold" pitchFamily="2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bg1"/>
                  </a:solidFill>
                  <a:latin typeface="Montserrat SemiBold" pitchFamily="2" charset="0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Montserrat SemiBold" pitchFamily="2" charset="0"/>
                <a:ea typeface="+mn-ea"/>
                <a:cs typeface="+mn-cs"/>
              </a:defRPr>
            </a:pPr>
            <a:endParaRPr lang="fr-FR"/>
          </a:p>
        </c:txPr>
        <c:crossAx val="6239660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Feuil1!$A$2:$C$17</cx:f>
        <cx:lvl ptCount="16">
          <cx:pt idx="0">Population mondiale</cx:pt>
          <cx:pt idx="1">Feuille 8</cx:pt>
        </cx:lvl>
        <cx:lvl ptCount="16">
          <cx:pt idx="0">Ressource 1</cx:pt>
          <cx:pt idx="1">Ressource 3</cx:pt>
        </cx:lvl>
        <cx:lvl ptCount="16">
          <cx:pt idx="0">Branche 1</cx:pt>
          <cx:pt idx="1">Branche 2</cx:pt>
        </cx:lvl>
      </cx:strDim>
      <cx:numDim type="size">
        <cx:f>Feuil1!$D$2:$D$17</cx:f>
        <cx:lvl ptCount="16" formatCode="Standard">
          <cx:pt idx="0">92.900000000000006</cx:pt>
          <cx:pt idx="1">7.0999999999999996</cx:pt>
        </cx:lvl>
      </cx:numDim>
    </cx:data>
  </cx:chartData>
  <cx:chart>
    <cx:plotArea>
      <cx:plotAreaRegion>
        <cx:series layoutId="treemap" uniqueId="{4A84F90B-55C1-467D-93FE-E84C3439F9E5}">
          <cx:tx>
            <cx:txData>
              <cx:f>Feuil1!$D$1</cx:f>
              <cx:v>Série 1</cx:v>
            </cx:txData>
          </cx:tx>
          <cx:dataPt idx="0">
            <cx:spPr>
              <a:solidFill>
                <a:prstClr val="white"/>
              </a:solidFill>
            </cx:spPr>
          </cx:dataPt>
          <cx:dataPt idx="3">
            <cx:spPr>
              <a:solidFill>
                <a:prstClr val="white"/>
              </a:solidFill>
            </cx:spPr>
          </cx:dataPt>
          <cx:dataPt idx="5">
            <cx:spPr>
              <a:solidFill>
                <a:srgbClr val="FF0000"/>
              </a:solidFill>
            </cx:spPr>
          </cx:dataPt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b="0">
                    <a:solidFill>
                      <a:srgbClr val="618EC5"/>
                    </a:solidFill>
                    <a:latin typeface="Montserrat SemiBold" pitchFamily="2" charset="0"/>
                    <a:ea typeface="Montserrat SemiBold" pitchFamily="2" charset="0"/>
                    <a:cs typeface="Montserrat SemiBold" pitchFamily="2" charset="0"/>
                  </a:defRPr>
                </a:pPr>
                <a:endParaRPr lang="fr-FR" sz="1197" b="0" i="0" u="none" strike="noStrike" baseline="0">
                  <a:solidFill>
                    <a:srgbClr val="618EC5"/>
                  </a:solidFill>
                  <a:latin typeface="Montserrat SemiBold" pitchFamily="2" charset="0"/>
                </a:endParaRPr>
              </a:p>
            </cx:txPr>
            <cx:dataLabel idx="2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b="1"/>
                  </a:pPr>
                  <a:r>
                    <a:rPr lang="fr-FR" sz="1197" b="1" i="0" u="none" strike="noStrike" baseline="0">
                      <a:solidFill>
                        <a:srgbClr val="618EC5"/>
                      </a:solidFill>
                      <a:latin typeface="Montserrat SemiBold" pitchFamily="2" charset="0"/>
                    </a:rPr>
                    <a:t>Population mondiale</a:t>
                  </a:r>
                </a:p>
              </cx:txPr>
            </cx:dataLabel>
            <cx:dataLabelHidden idx="0"/>
            <cx:dataLabelHidden idx="3"/>
            <cx:dataLabelHidden idx="5"/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21D729-C718-4587-85E9-A369E982B41A}" type="doc">
      <dgm:prSet loTypeId="urn:microsoft.com/office/officeart/2005/8/layout/chevron1" loCatId="process" qsTypeId="urn:microsoft.com/office/officeart/2005/8/quickstyle/simple1" qsCatId="simple" csTypeId="urn:microsoft.com/office/officeart/2005/8/colors/accent0_2" csCatId="mainScheme" phldr="1"/>
      <dgm:spPr/>
    </dgm:pt>
    <dgm:pt modelId="{43116A29-6263-4C59-8DE6-AB45679CA779}">
      <dgm:prSet phldrT="[Texte]"/>
      <dgm:spPr/>
      <dgm:t>
        <a:bodyPr/>
        <a:lstStyle/>
        <a:p>
          <a:r>
            <a:rPr lang="fr-FR" dirty="0">
              <a:solidFill>
                <a:srgbClr val="618EC5"/>
              </a:solidFill>
              <a:latin typeface="Montserrat SemiBold" pitchFamily="2" charset="0"/>
            </a:rPr>
            <a:t>Importer</a:t>
          </a:r>
        </a:p>
      </dgm:t>
    </dgm:pt>
    <dgm:pt modelId="{7E63ECEE-F244-4386-B035-FA2719A34E04}" type="parTrans" cxnId="{1CF2BFE6-02DC-45E0-AB2B-006D4E315D49}">
      <dgm:prSet/>
      <dgm:spPr/>
      <dgm:t>
        <a:bodyPr/>
        <a:lstStyle/>
        <a:p>
          <a:endParaRPr lang="fr-FR"/>
        </a:p>
      </dgm:t>
    </dgm:pt>
    <dgm:pt modelId="{22005B0F-0E16-441F-A51F-7EB90B71787C}" type="sibTrans" cxnId="{1CF2BFE6-02DC-45E0-AB2B-006D4E315D49}">
      <dgm:prSet/>
      <dgm:spPr/>
      <dgm:t>
        <a:bodyPr/>
        <a:lstStyle/>
        <a:p>
          <a:endParaRPr lang="fr-FR"/>
        </a:p>
      </dgm:t>
    </dgm:pt>
    <dgm:pt modelId="{C5E51A17-1D85-4437-A705-68ADFE42DFE2}">
      <dgm:prSet phldrT="[Texte]"/>
      <dgm:spPr/>
      <dgm:t>
        <a:bodyPr/>
        <a:lstStyle/>
        <a:p>
          <a:r>
            <a:rPr lang="fr-FR" dirty="0">
              <a:solidFill>
                <a:srgbClr val="618EC5"/>
              </a:solidFill>
              <a:latin typeface="Montserrat SemiBold" pitchFamily="2" charset="0"/>
            </a:rPr>
            <a:t>Nettoyer</a:t>
          </a:r>
        </a:p>
      </dgm:t>
    </dgm:pt>
    <dgm:pt modelId="{7F219129-B446-4EE6-9775-A217B4C367D6}" type="parTrans" cxnId="{F585239C-1F73-4558-9BDC-D665E8F843C1}">
      <dgm:prSet/>
      <dgm:spPr/>
      <dgm:t>
        <a:bodyPr/>
        <a:lstStyle/>
        <a:p>
          <a:endParaRPr lang="fr-FR"/>
        </a:p>
      </dgm:t>
    </dgm:pt>
    <dgm:pt modelId="{E85A0428-7C4F-4233-9BDB-3FC052A4B2B6}" type="sibTrans" cxnId="{F585239C-1F73-4558-9BDC-D665E8F843C1}">
      <dgm:prSet/>
      <dgm:spPr/>
      <dgm:t>
        <a:bodyPr/>
        <a:lstStyle/>
        <a:p>
          <a:endParaRPr lang="fr-FR"/>
        </a:p>
      </dgm:t>
    </dgm:pt>
    <dgm:pt modelId="{78517B76-8047-4693-AC8D-770A0C4FAB97}">
      <dgm:prSet phldrT="[Texte]"/>
      <dgm:spPr/>
      <dgm:t>
        <a:bodyPr/>
        <a:lstStyle/>
        <a:p>
          <a:r>
            <a:rPr lang="fr-FR" dirty="0">
              <a:solidFill>
                <a:srgbClr val="618EC5"/>
              </a:solidFill>
              <a:latin typeface="Montserrat SemiBold" pitchFamily="2" charset="0"/>
            </a:rPr>
            <a:t>Fusionner</a:t>
          </a:r>
        </a:p>
      </dgm:t>
    </dgm:pt>
    <dgm:pt modelId="{95CABDF6-C5E9-4CAE-BB41-6A01FFA2B59F}" type="parTrans" cxnId="{B2B0B94F-7E1C-4BC4-BEB3-B5E6B3C4720F}">
      <dgm:prSet/>
      <dgm:spPr/>
      <dgm:t>
        <a:bodyPr/>
        <a:lstStyle/>
        <a:p>
          <a:endParaRPr lang="fr-FR"/>
        </a:p>
      </dgm:t>
    </dgm:pt>
    <dgm:pt modelId="{FD2F3525-9E49-4DF1-ACE2-C0C2122020CE}" type="sibTrans" cxnId="{B2B0B94F-7E1C-4BC4-BEB3-B5E6B3C4720F}">
      <dgm:prSet/>
      <dgm:spPr/>
      <dgm:t>
        <a:bodyPr/>
        <a:lstStyle/>
        <a:p>
          <a:endParaRPr lang="fr-FR"/>
        </a:p>
      </dgm:t>
    </dgm:pt>
    <dgm:pt modelId="{8E331C9B-9EB0-49EC-973C-58842321FC64}">
      <dgm:prSet phldrT="[Texte]"/>
      <dgm:spPr/>
      <dgm:t>
        <a:bodyPr/>
        <a:lstStyle/>
        <a:p>
          <a:r>
            <a:rPr lang="fr-FR" dirty="0">
              <a:solidFill>
                <a:srgbClr val="618EC5"/>
              </a:solidFill>
              <a:latin typeface="Montserrat SemiBold" pitchFamily="2" charset="0"/>
            </a:rPr>
            <a:t>Analyser</a:t>
          </a:r>
        </a:p>
      </dgm:t>
    </dgm:pt>
    <dgm:pt modelId="{1E1FE1FE-3AED-4357-BDD9-5265E11E05D1}" type="parTrans" cxnId="{FBA5BF50-ACC2-4C00-9AB4-528548B55AFD}">
      <dgm:prSet/>
      <dgm:spPr/>
      <dgm:t>
        <a:bodyPr/>
        <a:lstStyle/>
        <a:p>
          <a:endParaRPr lang="fr-FR"/>
        </a:p>
      </dgm:t>
    </dgm:pt>
    <dgm:pt modelId="{9D8ADA99-32E9-4FA7-8A4F-FB00EE36AB4C}" type="sibTrans" cxnId="{FBA5BF50-ACC2-4C00-9AB4-528548B55AFD}">
      <dgm:prSet/>
      <dgm:spPr/>
      <dgm:t>
        <a:bodyPr/>
        <a:lstStyle/>
        <a:p>
          <a:endParaRPr lang="fr-FR"/>
        </a:p>
      </dgm:t>
    </dgm:pt>
    <dgm:pt modelId="{B366C429-3C11-4244-A1EE-8F0581D03E18}">
      <dgm:prSet phldrT="[Texte]"/>
      <dgm:spPr/>
      <dgm:t>
        <a:bodyPr/>
        <a:lstStyle/>
        <a:p>
          <a:r>
            <a:rPr lang="fr-FR" dirty="0">
              <a:solidFill>
                <a:srgbClr val="618EC5"/>
              </a:solidFill>
              <a:latin typeface="Montserrat SemiBold" pitchFamily="2" charset="0"/>
            </a:rPr>
            <a:t>Agréger</a:t>
          </a:r>
        </a:p>
      </dgm:t>
    </dgm:pt>
    <dgm:pt modelId="{A9A109A7-786F-490A-8A9C-1CCC9BA0EECB}" type="parTrans" cxnId="{E787B880-EAC6-49F7-BF9D-B352F58351A6}">
      <dgm:prSet/>
      <dgm:spPr/>
      <dgm:t>
        <a:bodyPr/>
        <a:lstStyle/>
        <a:p>
          <a:endParaRPr lang="fr-FR"/>
        </a:p>
      </dgm:t>
    </dgm:pt>
    <dgm:pt modelId="{B3DBEDCA-E9F0-4724-BE36-ACC3F68C7EB4}" type="sibTrans" cxnId="{E787B880-EAC6-49F7-BF9D-B352F58351A6}">
      <dgm:prSet/>
      <dgm:spPr/>
      <dgm:t>
        <a:bodyPr/>
        <a:lstStyle/>
        <a:p>
          <a:endParaRPr lang="fr-FR"/>
        </a:p>
      </dgm:t>
    </dgm:pt>
    <dgm:pt modelId="{D7862421-9019-487C-8412-C7FF45A428AA}" type="pres">
      <dgm:prSet presAssocID="{1E21D729-C718-4587-85E9-A369E982B41A}" presName="Name0" presStyleCnt="0">
        <dgm:presLayoutVars>
          <dgm:dir/>
          <dgm:animLvl val="lvl"/>
          <dgm:resizeHandles val="exact"/>
        </dgm:presLayoutVars>
      </dgm:prSet>
      <dgm:spPr/>
    </dgm:pt>
    <dgm:pt modelId="{6C7261CD-070B-4DA3-A5AA-5FD01021A913}" type="pres">
      <dgm:prSet presAssocID="{43116A29-6263-4C59-8DE6-AB45679CA779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F2017BAD-9F38-4BDA-BE92-4AF151D4F3B3}" type="pres">
      <dgm:prSet presAssocID="{22005B0F-0E16-441F-A51F-7EB90B71787C}" presName="parTxOnlySpace" presStyleCnt="0"/>
      <dgm:spPr/>
    </dgm:pt>
    <dgm:pt modelId="{5EA26C22-DF2A-48F0-A432-17759CEF809C}" type="pres">
      <dgm:prSet presAssocID="{C5E51A17-1D85-4437-A705-68ADFE42DFE2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E4E169B6-3E5E-490E-9962-B6B83CC8F10F}" type="pres">
      <dgm:prSet presAssocID="{E85A0428-7C4F-4233-9BDB-3FC052A4B2B6}" presName="parTxOnlySpace" presStyleCnt="0"/>
      <dgm:spPr/>
    </dgm:pt>
    <dgm:pt modelId="{C535E155-7F0F-4492-A3D9-2A1A402E83AD}" type="pres">
      <dgm:prSet presAssocID="{B366C429-3C11-4244-A1EE-8F0581D03E1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5E34CB60-2E76-413E-B1C5-D5D5FAB60A67}" type="pres">
      <dgm:prSet presAssocID="{B3DBEDCA-E9F0-4724-BE36-ACC3F68C7EB4}" presName="parTxOnlySpace" presStyleCnt="0"/>
      <dgm:spPr/>
    </dgm:pt>
    <dgm:pt modelId="{0ED69981-16F5-4BBA-BDBC-EEC15196A2DD}" type="pres">
      <dgm:prSet presAssocID="{78517B76-8047-4693-AC8D-770A0C4FAB97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D4058129-D372-426F-8DA6-3134C2C06243}" type="pres">
      <dgm:prSet presAssocID="{FD2F3525-9E49-4DF1-ACE2-C0C2122020CE}" presName="parTxOnlySpace" presStyleCnt="0"/>
      <dgm:spPr/>
    </dgm:pt>
    <dgm:pt modelId="{B2C84FD0-229F-44DB-ACC8-423CD2331E6D}" type="pres">
      <dgm:prSet presAssocID="{8E331C9B-9EB0-49EC-973C-58842321FC64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179D873E-6E7A-4FA7-9765-D1F1B06FEF06}" type="presOf" srcId="{78517B76-8047-4693-AC8D-770A0C4FAB97}" destId="{0ED69981-16F5-4BBA-BDBC-EEC15196A2DD}" srcOrd="0" destOrd="0" presId="urn:microsoft.com/office/officeart/2005/8/layout/chevron1"/>
    <dgm:cxn modelId="{B2B0B94F-7E1C-4BC4-BEB3-B5E6B3C4720F}" srcId="{1E21D729-C718-4587-85E9-A369E982B41A}" destId="{78517B76-8047-4693-AC8D-770A0C4FAB97}" srcOrd="3" destOrd="0" parTransId="{95CABDF6-C5E9-4CAE-BB41-6A01FFA2B59F}" sibTransId="{FD2F3525-9E49-4DF1-ACE2-C0C2122020CE}"/>
    <dgm:cxn modelId="{FBA5BF50-ACC2-4C00-9AB4-528548B55AFD}" srcId="{1E21D729-C718-4587-85E9-A369E982B41A}" destId="{8E331C9B-9EB0-49EC-973C-58842321FC64}" srcOrd="4" destOrd="0" parTransId="{1E1FE1FE-3AED-4357-BDD9-5265E11E05D1}" sibTransId="{9D8ADA99-32E9-4FA7-8A4F-FB00EE36AB4C}"/>
    <dgm:cxn modelId="{E787B880-EAC6-49F7-BF9D-B352F58351A6}" srcId="{1E21D729-C718-4587-85E9-A369E982B41A}" destId="{B366C429-3C11-4244-A1EE-8F0581D03E18}" srcOrd="2" destOrd="0" parTransId="{A9A109A7-786F-490A-8A9C-1CCC9BA0EECB}" sibTransId="{B3DBEDCA-E9F0-4724-BE36-ACC3F68C7EB4}"/>
    <dgm:cxn modelId="{F585239C-1F73-4558-9BDC-D665E8F843C1}" srcId="{1E21D729-C718-4587-85E9-A369E982B41A}" destId="{C5E51A17-1D85-4437-A705-68ADFE42DFE2}" srcOrd="1" destOrd="0" parTransId="{7F219129-B446-4EE6-9775-A217B4C367D6}" sibTransId="{E85A0428-7C4F-4233-9BDB-3FC052A4B2B6}"/>
    <dgm:cxn modelId="{E1E284BA-B828-4E26-8DFF-F8429B287911}" type="presOf" srcId="{1E21D729-C718-4587-85E9-A369E982B41A}" destId="{D7862421-9019-487C-8412-C7FF45A428AA}" srcOrd="0" destOrd="0" presId="urn:microsoft.com/office/officeart/2005/8/layout/chevron1"/>
    <dgm:cxn modelId="{1CF2BFE6-02DC-45E0-AB2B-006D4E315D49}" srcId="{1E21D729-C718-4587-85E9-A369E982B41A}" destId="{43116A29-6263-4C59-8DE6-AB45679CA779}" srcOrd="0" destOrd="0" parTransId="{7E63ECEE-F244-4386-B035-FA2719A34E04}" sibTransId="{22005B0F-0E16-441F-A51F-7EB90B71787C}"/>
    <dgm:cxn modelId="{C24EC4EA-C40D-4DD4-AC68-521369888E98}" type="presOf" srcId="{B366C429-3C11-4244-A1EE-8F0581D03E18}" destId="{C535E155-7F0F-4492-A3D9-2A1A402E83AD}" srcOrd="0" destOrd="0" presId="urn:microsoft.com/office/officeart/2005/8/layout/chevron1"/>
    <dgm:cxn modelId="{3E8DCEEA-FE0D-4543-971A-132F07404E99}" type="presOf" srcId="{8E331C9B-9EB0-49EC-973C-58842321FC64}" destId="{B2C84FD0-229F-44DB-ACC8-423CD2331E6D}" srcOrd="0" destOrd="0" presId="urn:microsoft.com/office/officeart/2005/8/layout/chevron1"/>
    <dgm:cxn modelId="{06AAB6F3-9374-44D7-9237-28E5954338E4}" type="presOf" srcId="{43116A29-6263-4C59-8DE6-AB45679CA779}" destId="{6C7261CD-070B-4DA3-A5AA-5FD01021A913}" srcOrd="0" destOrd="0" presId="urn:microsoft.com/office/officeart/2005/8/layout/chevron1"/>
    <dgm:cxn modelId="{1CF0EFF4-C32B-4A5F-AB79-85F9EBBEC334}" type="presOf" srcId="{C5E51A17-1D85-4437-A705-68ADFE42DFE2}" destId="{5EA26C22-DF2A-48F0-A432-17759CEF809C}" srcOrd="0" destOrd="0" presId="urn:microsoft.com/office/officeart/2005/8/layout/chevron1"/>
    <dgm:cxn modelId="{D9E6E5D6-4892-4646-96FF-B8CC94A57532}" type="presParOf" srcId="{D7862421-9019-487C-8412-C7FF45A428AA}" destId="{6C7261CD-070B-4DA3-A5AA-5FD01021A913}" srcOrd="0" destOrd="0" presId="urn:microsoft.com/office/officeart/2005/8/layout/chevron1"/>
    <dgm:cxn modelId="{3718E7FD-D722-44F2-BEBD-DDEC00AF1237}" type="presParOf" srcId="{D7862421-9019-487C-8412-C7FF45A428AA}" destId="{F2017BAD-9F38-4BDA-BE92-4AF151D4F3B3}" srcOrd="1" destOrd="0" presId="urn:microsoft.com/office/officeart/2005/8/layout/chevron1"/>
    <dgm:cxn modelId="{56EE88DE-B29E-4129-9AA7-0EED6165C7E7}" type="presParOf" srcId="{D7862421-9019-487C-8412-C7FF45A428AA}" destId="{5EA26C22-DF2A-48F0-A432-17759CEF809C}" srcOrd="2" destOrd="0" presId="urn:microsoft.com/office/officeart/2005/8/layout/chevron1"/>
    <dgm:cxn modelId="{6A656893-3BD7-4A80-98BC-F0FC3F63A5BB}" type="presParOf" srcId="{D7862421-9019-487C-8412-C7FF45A428AA}" destId="{E4E169B6-3E5E-490E-9962-B6B83CC8F10F}" srcOrd="3" destOrd="0" presId="urn:microsoft.com/office/officeart/2005/8/layout/chevron1"/>
    <dgm:cxn modelId="{D8E1A466-0C67-4D6B-88E6-84FB51EE57FD}" type="presParOf" srcId="{D7862421-9019-487C-8412-C7FF45A428AA}" destId="{C535E155-7F0F-4492-A3D9-2A1A402E83AD}" srcOrd="4" destOrd="0" presId="urn:microsoft.com/office/officeart/2005/8/layout/chevron1"/>
    <dgm:cxn modelId="{A1932CA7-54B9-45B8-B1D4-2D2241024BD9}" type="presParOf" srcId="{D7862421-9019-487C-8412-C7FF45A428AA}" destId="{5E34CB60-2E76-413E-B1C5-D5D5FAB60A67}" srcOrd="5" destOrd="0" presId="urn:microsoft.com/office/officeart/2005/8/layout/chevron1"/>
    <dgm:cxn modelId="{769690EA-C850-479B-9F9D-D7E5B0378902}" type="presParOf" srcId="{D7862421-9019-487C-8412-C7FF45A428AA}" destId="{0ED69981-16F5-4BBA-BDBC-EEC15196A2DD}" srcOrd="6" destOrd="0" presId="urn:microsoft.com/office/officeart/2005/8/layout/chevron1"/>
    <dgm:cxn modelId="{DC91D9CF-5B27-42B4-BEDA-D40B6E3007FE}" type="presParOf" srcId="{D7862421-9019-487C-8412-C7FF45A428AA}" destId="{D4058129-D372-426F-8DA6-3134C2C06243}" srcOrd="7" destOrd="0" presId="urn:microsoft.com/office/officeart/2005/8/layout/chevron1"/>
    <dgm:cxn modelId="{0587FF0A-F455-4AD0-AAED-DB38B232DE9F}" type="presParOf" srcId="{D7862421-9019-487C-8412-C7FF45A428AA}" destId="{B2C84FD0-229F-44DB-ACC8-423CD2331E6D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261CD-070B-4DA3-A5AA-5FD01021A913}">
      <dsp:nvSpPr>
        <dsp:cNvPr id="0" name=""/>
        <dsp:cNvSpPr/>
      </dsp:nvSpPr>
      <dsp:spPr>
        <a:xfrm>
          <a:off x="2342" y="2469613"/>
          <a:ext cx="2084950" cy="8339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>
              <a:solidFill>
                <a:srgbClr val="618EC5"/>
              </a:solidFill>
              <a:latin typeface="Montserrat SemiBold" pitchFamily="2" charset="0"/>
            </a:rPr>
            <a:t>Importer</a:t>
          </a:r>
        </a:p>
      </dsp:txBody>
      <dsp:txXfrm>
        <a:off x="419332" y="2469613"/>
        <a:ext cx="1250970" cy="833980"/>
      </dsp:txXfrm>
    </dsp:sp>
    <dsp:sp modelId="{5EA26C22-DF2A-48F0-A432-17759CEF809C}">
      <dsp:nvSpPr>
        <dsp:cNvPr id="0" name=""/>
        <dsp:cNvSpPr/>
      </dsp:nvSpPr>
      <dsp:spPr>
        <a:xfrm>
          <a:off x="1878797" y="2469613"/>
          <a:ext cx="2084950" cy="8339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>
              <a:solidFill>
                <a:srgbClr val="618EC5"/>
              </a:solidFill>
              <a:latin typeface="Montserrat SemiBold" pitchFamily="2" charset="0"/>
            </a:rPr>
            <a:t>Nettoyer</a:t>
          </a:r>
        </a:p>
      </dsp:txBody>
      <dsp:txXfrm>
        <a:off x="2295787" y="2469613"/>
        <a:ext cx="1250970" cy="833980"/>
      </dsp:txXfrm>
    </dsp:sp>
    <dsp:sp modelId="{C535E155-7F0F-4492-A3D9-2A1A402E83AD}">
      <dsp:nvSpPr>
        <dsp:cNvPr id="0" name=""/>
        <dsp:cNvSpPr/>
      </dsp:nvSpPr>
      <dsp:spPr>
        <a:xfrm>
          <a:off x="3755253" y="2469613"/>
          <a:ext cx="2084950" cy="8339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>
              <a:solidFill>
                <a:srgbClr val="618EC5"/>
              </a:solidFill>
              <a:latin typeface="Montserrat SemiBold" pitchFamily="2" charset="0"/>
            </a:rPr>
            <a:t>Agréger</a:t>
          </a:r>
        </a:p>
      </dsp:txBody>
      <dsp:txXfrm>
        <a:off x="4172243" y="2469613"/>
        <a:ext cx="1250970" cy="833980"/>
      </dsp:txXfrm>
    </dsp:sp>
    <dsp:sp modelId="{0ED69981-16F5-4BBA-BDBC-EEC15196A2DD}">
      <dsp:nvSpPr>
        <dsp:cNvPr id="0" name=""/>
        <dsp:cNvSpPr/>
      </dsp:nvSpPr>
      <dsp:spPr>
        <a:xfrm>
          <a:off x="5631708" y="2469613"/>
          <a:ext cx="2084950" cy="8339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>
              <a:solidFill>
                <a:srgbClr val="618EC5"/>
              </a:solidFill>
              <a:latin typeface="Montserrat SemiBold" pitchFamily="2" charset="0"/>
            </a:rPr>
            <a:t>Fusionner</a:t>
          </a:r>
        </a:p>
      </dsp:txBody>
      <dsp:txXfrm>
        <a:off x="6048698" y="2469613"/>
        <a:ext cx="1250970" cy="833980"/>
      </dsp:txXfrm>
    </dsp:sp>
    <dsp:sp modelId="{B2C84FD0-229F-44DB-ACC8-423CD2331E6D}">
      <dsp:nvSpPr>
        <dsp:cNvPr id="0" name=""/>
        <dsp:cNvSpPr/>
      </dsp:nvSpPr>
      <dsp:spPr>
        <a:xfrm>
          <a:off x="7508163" y="2469613"/>
          <a:ext cx="2084950" cy="83398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>
              <a:solidFill>
                <a:srgbClr val="618EC5"/>
              </a:solidFill>
              <a:latin typeface="Montserrat SemiBold" pitchFamily="2" charset="0"/>
            </a:rPr>
            <a:t>Analyser</a:t>
          </a:r>
        </a:p>
      </dsp:txBody>
      <dsp:txXfrm>
        <a:off x="7925153" y="2469613"/>
        <a:ext cx="1250970" cy="833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F68E6-70EE-41F6-BE95-0062074B3EE2}" type="datetimeFigureOut">
              <a:rPr lang="fr-FR" smtClean="0"/>
              <a:t>03/04/2024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3D36E6-06D6-4F85-B58D-5F4A739152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85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1609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7298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7454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614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9855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8637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6905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7611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2612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844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1457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77340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634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2446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937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9946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7319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D36E6-06D6-4F85-B58D-5F4A739152F1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878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0174AC-8A71-6124-FE20-DE4906A24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2F46FCE-0856-0731-C518-A0694BA69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B55680-2029-74B7-CB60-6F3B2282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0A4F9-83C9-4B82-B691-515BD8C240B4}" type="datetimeFigureOut">
              <a:rPr lang="fr-FR" smtClean="0"/>
              <a:t>03/04/2024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62056B-7E4D-5989-2988-953BB5A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92FBA4-0BA4-4210-2FF9-DED07110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3033-B802-46A8-8EF0-BAB6C69C7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1354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3838AA-2E16-7D72-A320-5ADE8049A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7EA606-793C-3550-3FE7-9364E5CBC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EEB481-BAC1-8585-883B-896EADC4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0A4F9-83C9-4B82-B691-515BD8C240B4}" type="datetimeFigureOut">
              <a:rPr lang="fr-FR" smtClean="0"/>
              <a:t>03/04/2024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2FDB6D-231D-C36E-9264-6EB91506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1D2159-21A1-2D95-0A60-E5120300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3033-B802-46A8-8EF0-BAB6C69C7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946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A3A5A6-6A58-01F1-A2C9-B0F2FF4E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9FB5CF-C05C-E02F-5F2A-68D355064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F686D6-77E2-0C68-FE75-3D746E5C3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0A4F9-83C9-4B82-B691-515BD8C240B4}" type="datetimeFigureOut">
              <a:rPr lang="fr-FR" smtClean="0"/>
              <a:t>03/04/2024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35474-1D13-0425-CE96-A9B58827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E5363D-0D74-5CA9-FD38-3119DC858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3033-B802-46A8-8EF0-BAB6C69C7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05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14F78B-C71A-514B-1BFF-F23674AD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168468-CA64-76B3-BC3D-5E84A0EC8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78B667-EEE1-46B8-814A-F37B0D843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324FF15-0D4E-3261-B2CF-3E3E27C47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0A4F9-83C9-4B82-B691-515BD8C240B4}" type="datetimeFigureOut">
              <a:rPr lang="fr-FR" smtClean="0"/>
              <a:t>03/04/2024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18C462-03EA-1B35-550B-7C64A630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645A6D-2AD0-3C6C-6498-17C630813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3033-B802-46A8-8EF0-BAB6C69C7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0544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761450-E539-5CAD-CC64-B08780882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37D869-E4D4-DD01-971D-FD4CA174B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778C3CF-9C84-2717-FD35-37E9E58FE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C33C5D2-7C8F-91A0-679F-6D0267D8D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B8588E9-5760-FF45-8A24-633E63CA2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14A9D10-17CD-C23A-5609-8CE49E07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0A4F9-83C9-4B82-B691-515BD8C240B4}" type="datetimeFigureOut">
              <a:rPr lang="fr-FR" smtClean="0"/>
              <a:t>03/04/2024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C2ECF17-2AB6-0DB0-0CBE-55EB92DB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20EC54A-EB00-1105-A440-93806A4AB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3033-B802-46A8-8EF0-BAB6C69C7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20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FA5EAF-4F90-9490-6CC3-AA7CD6E9F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2DE76C-5340-6A94-6D16-5BC6CF1E7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0A4F9-83C9-4B82-B691-515BD8C240B4}" type="datetimeFigureOut">
              <a:rPr lang="fr-FR" smtClean="0"/>
              <a:t>03/04/2024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B9D8976-4988-EC6F-64A3-1665B74EF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C077E5C-B967-1971-1865-2C4004F9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3033-B802-46A8-8EF0-BAB6C69C7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3492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0972A94-4CD8-D96B-2A03-66D07D2EE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0A4F9-83C9-4B82-B691-515BD8C240B4}" type="datetimeFigureOut">
              <a:rPr lang="fr-FR" smtClean="0"/>
              <a:t>03/04/2024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A12DEC-F8C0-F63E-DA3F-69DFE36C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3CB24F-1C18-18E5-9B5F-38CF4C42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3033-B802-46A8-8EF0-BAB6C69C7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8280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EE5E31-9FB2-178C-D27F-46C1A1280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59BEEB-662C-3480-6F0B-226AE4BBE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127740F-FBBB-F938-C136-4C5237A0C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6F75633-B2DD-C014-33B1-B4778EF8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0A4F9-83C9-4B82-B691-515BD8C240B4}" type="datetimeFigureOut">
              <a:rPr lang="fr-FR" smtClean="0"/>
              <a:t>03/04/2024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670EE3-65AB-FD98-117A-8C6CA6F9B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980065-D5E1-3BCF-8EF4-3C71F1AD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3033-B802-46A8-8EF0-BAB6C69C7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9440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264AB3-4108-E05E-FEDB-75C77B65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5ABD741-EECE-0F9A-1F9B-AB18C8B31B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3F03A73-813F-D3FF-0D6A-F9E9F2997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E3230B-0FC0-1AFA-2BC7-DECB59B1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0A4F9-83C9-4B82-B691-515BD8C240B4}" type="datetimeFigureOut">
              <a:rPr lang="fr-FR" smtClean="0"/>
              <a:t>03/04/2024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97DE62-1413-E534-E8D3-C058E659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6A7488-892D-4887-D98B-3BB78403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3033-B802-46A8-8EF0-BAB6C69C7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33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B632B2-9147-9105-BE2D-2EC4288B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012C2A9-62A8-09D3-9062-578CBA4D2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7DFBB3-71A1-0E00-6AA3-1D283D246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0A4F9-83C9-4B82-B691-515BD8C240B4}" type="datetimeFigureOut">
              <a:rPr lang="fr-FR" smtClean="0"/>
              <a:t>03/04/2024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B2B393-457D-4032-384E-1C0FA839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C70ACA-9EC9-4828-D84E-499EB44D8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3033-B802-46A8-8EF0-BAB6C69C7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969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FD99202-E94E-056E-2010-65B0660B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F7206DB-73C0-0D7E-4068-FF0F52B3F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CF579B-5812-0A21-F23D-93D073523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0A4F9-83C9-4B82-B691-515BD8C240B4}" type="datetimeFigureOut">
              <a:rPr lang="fr-FR" smtClean="0"/>
              <a:t>03/04/2024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449A20-436D-537B-BF1B-DBDD057F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6AE5FE-AF3A-9F73-F2D8-6FF8CF28D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73033-B802-46A8-8EF0-BAB6C69C7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4239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8E6E40A-3E86-980D-F085-5089AC9ED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6DC33D-DB45-D71D-1F89-184F64396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C9863C-178F-76A4-0B2E-6329A349CA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0A4F9-83C9-4B82-B691-515BD8C240B4}" type="datetimeFigureOut">
              <a:rPr lang="fr-FR" smtClean="0"/>
              <a:t>03/04/2024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A2E7B1-D4A6-C49A-5A06-F77C6B3861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09950-2990-5EBF-3FCC-BBD5D3D6B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73033-B802-46A8-8EF0-BAB6C69C7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966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1;p1">
            <a:extLst>
              <a:ext uri="{FF2B5EF4-FFF2-40B4-BE49-F238E27FC236}">
                <a16:creationId xmlns:a16="http://schemas.microsoft.com/office/drawing/2014/main" id="{891EE6BD-89B2-45F0-E061-1FBD49ED3025}"/>
              </a:ext>
            </a:extLst>
          </p:cNvPr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rgbClr val="618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48656D0-9CAF-721B-F78F-648EF581CC1D}"/>
              </a:ext>
            </a:extLst>
          </p:cNvPr>
          <p:cNvSpPr txBox="1"/>
          <p:nvPr/>
        </p:nvSpPr>
        <p:spPr>
          <a:xfrm>
            <a:off x="6775040" y="2367171"/>
            <a:ext cx="513125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rgbClr val="618EC5"/>
                </a:solidFill>
                <a:latin typeface="Montserrat SemiBold" pitchFamily="2" charset="0"/>
              </a:rPr>
              <a:t>Étude sur l’alimentation dans le monde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43739E5-183A-3EDE-9889-26043E91AF78}"/>
              </a:ext>
            </a:extLst>
          </p:cNvPr>
          <p:cNvSpPr txBox="1"/>
          <p:nvPr/>
        </p:nvSpPr>
        <p:spPr>
          <a:xfrm>
            <a:off x="-290449" y="3167390"/>
            <a:ext cx="5556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Montserrat SemiBold" pitchFamily="2" charset="0"/>
              </a:rPr>
              <a:t>Hébert Thomas</a:t>
            </a:r>
          </a:p>
        </p:txBody>
      </p:sp>
      <p:pic>
        <p:nvPicPr>
          <p:cNvPr id="10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8DA70E59-40C1-060B-FED2-49C3D646B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36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1;p1">
            <a:extLst>
              <a:ext uri="{FF2B5EF4-FFF2-40B4-BE49-F238E27FC236}">
                <a16:creationId xmlns:a16="http://schemas.microsoft.com/office/drawing/2014/main" id="{891EE6BD-89B2-45F0-E061-1FBD49ED3025}"/>
              </a:ext>
            </a:extLst>
          </p:cNvPr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rgbClr val="618E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48656D0-9CAF-721B-F78F-648EF581CC1D}"/>
              </a:ext>
            </a:extLst>
          </p:cNvPr>
          <p:cNvSpPr txBox="1"/>
          <p:nvPr/>
        </p:nvSpPr>
        <p:spPr>
          <a:xfrm>
            <a:off x="5419211" y="263673"/>
            <a:ext cx="6531623" cy="5062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500000"/>
              </a:lnSpc>
            </a:pPr>
            <a:r>
              <a:rPr lang="fr-FR" sz="2400" dirty="0">
                <a:solidFill>
                  <a:srgbClr val="618EC5"/>
                </a:solidFill>
                <a:latin typeface="Montserrat SemiBold" pitchFamily="2" charset="0"/>
              </a:rPr>
              <a:t>Contexte et spécification des données</a:t>
            </a:r>
          </a:p>
          <a:p>
            <a:pPr algn="ctr">
              <a:lnSpc>
                <a:spcPct val="300000"/>
              </a:lnSpc>
            </a:pPr>
            <a:r>
              <a:rPr lang="fr-FR" sz="2400" dirty="0">
                <a:solidFill>
                  <a:srgbClr val="618EC5"/>
                </a:solidFill>
                <a:latin typeface="Montserrat SemiBold" pitchFamily="2" charset="0"/>
              </a:rPr>
              <a:t>Méthodologie de l’analyse</a:t>
            </a:r>
          </a:p>
          <a:p>
            <a:pPr algn="ctr">
              <a:lnSpc>
                <a:spcPct val="300000"/>
              </a:lnSpc>
            </a:pPr>
            <a:r>
              <a:rPr lang="fr-FR" sz="2400" dirty="0">
                <a:solidFill>
                  <a:srgbClr val="618EC5"/>
                </a:solidFill>
                <a:latin typeface="Montserrat SemiBold" pitchFamily="2" charset="0"/>
              </a:rPr>
              <a:t>Analyses</a:t>
            </a:r>
          </a:p>
          <a:p>
            <a:pPr algn="ctr">
              <a:lnSpc>
                <a:spcPct val="300000"/>
              </a:lnSpc>
            </a:pPr>
            <a:r>
              <a:rPr lang="fr-FR" sz="2400" dirty="0">
                <a:solidFill>
                  <a:srgbClr val="618EC5"/>
                </a:solidFill>
                <a:latin typeface="Montserrat SemiBold" pitchFamily="2" charset="0"/>
              </a:rPr>
              <a:t>Analyses complémentaires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43739E5-183A-3EDE-9889-26043E91AF78}"/>
              </a:ext>
            </a:extLst>
          </p:cNvPr>
          <p:cNvSpPr txBox="1"/>
          <p:nvPr/>
        </p:nvSpPr>
        <p:spPr>
          <a:xfrm>
            <a:off x="-290449" y="3167390"/>
            <a:ext cx="5556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Montserrat SemiBold" pitchFamily="2" charset="0"/>
              </a:rPr>
              <a:t>Sommaire</a:t>
            </a:r>
          </a:p>
        </p:txBody>
      </p:sp>
      <p:pic>
        <p:nvPicPr>
          <p:cNvPr id="10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8DA70E59-40C1-060B-FED2-49C3D646B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475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Contexte et spécification des données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F6FDEFD-4BBE-C300-8B35-827080B62EE2}"/>
              </a:ext>
            </a:extLst>
          </p:cNvPr>
          <p:cNvSpPr txBox="1"/>
          <p:nvPr/>
        </p:nvSpPr>
        <p:spPr>
          <a:xfrm>
            <a:off x="838200" y="1414562"/>
            <a:ext cx="10515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Montserrat" pitchFamily="2" charset="0"/>
              </a:rPr>
              <a:t>L’étude consiste à mettre en lumière l’alimentation dans le monde.</a:t>
            </a:r>
            <a:br>
              <a:rPr lang="fr-FR" dirty="0">
                <a:solidFill>
                  <a:schemeClr val="bg1"/>
                </a:solidFill>
                <a:latin typeface="Montserrat" pitchFamily="2" charset="0"/>
              </a:rPr>
            </a:br>
            <a:r>
              <a:rPr lang="fr-FR" dirty="0">
                <a:solidFill>
                  <a:schemeClr val="bg1"/>
                </a:solidFill>
                <a:latin typeface="Montserrat" pitchFamily="2" charset="0"/>
              </a:rPr>
              <a:t>Ce travail porte sur la partie « </a:t>
            </a:r>
            <a:r>
              <a:rPr lang="fr-FR" b="1" dirty="0">
                <a:solidFill>
                  <a:schemeClr val="bg1"/>
                </a:solidFill>
                <a:latin typeface="Montserrat" pitchFamily="2" charset="0"/>
              </a:rPr>
              <a:t>historique</a:t>
            </a:r>
            <a:r>
              <a:rPr lang="fr-FR" dirty="0">
                <a:solidFill>
                  <a:schemeClr val="bg1"/>
                </a:solidFill>
                <a:latin typeface="Montserrat" pitchFamily="2" charset="0"/>
              </a:rPr>
              <a:t> » allant de </a:t>
            </a:r>
            <a:r>
              <a:rPr lang="fr-FR" b="1" dirty="0">
                <a:solidFill>
                  <a:schemeClr val="bg1"/>
                </a:solidFill>
                <a:latin typeface="Montserrat" pitchFamily="2" charset="0"/>
              </a:rPr>
              <a:t>2013</a:t>
            </a:r>
            <a:r>
              <a:rPr lang="fr-FR" dirty="0">
                <a:solidFill>
                  <a:schemeClr val="bg1"/>
                </a:solidFill>
                <a:latin typeface="Montserrat" pitchFamily="2" charset="0"/>
              </a:rPr>
              <a:t> à </a:t>
            </a:r>
            <a:r>
              <a:rPr lang="fr-FR" b="1" dirty="0">
                <a:solidFill>
                  <a:schemeClr val="bg1"/>
                </a:solidFill>
                <a:latin typeface="Montserrat" pitchFamily="2" charset="0"/>
              </a:rPr>
              <a:t>2017</a:t>
            </a:r>
            <a:r>
              <a:rPr lang="fr-FR" dirty="0">
                <a:solidFill>
                  <a:schemeClr val="bg1"/>
                </a:solidFill>
                <a:latin typeface="Montserrat" pitchFamily="2" charset="0"/>
              </a:rPr>
              <a:t>.</a:t>
            </a:r>
          </a:p>
          <a:p>
            <a:endParaRPr lang="fr-FR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fr-FR" dirty="0">
                <a:solidFill>
                  <a:schemeClr val="bg1"/>
                </a:solidFill>
                <a:latin typeface="Montserrat" pitchFamily="2" charset="0"/>
              </a:rPr>
              <a:t>Pour ce faire, nous avons à notre disposition 4 fichiers CSV :</a:t>
            </a:r>
          </a:p>
          <a:p>
            <a:endParaRPr lang="fr-FR" dirty="0">
              <a:solidFill>
                <a:schemeClr val="bg1"/>
              </a:solidFill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Montserrat" pitchFamily="2" charset="0"/>
              </a:rPr>
              <a:t>Disponibilité alimentaire </a:t>
            </a:r>
            <a:r>
              <a:rPr lang="fr-FR" dirty="0">
                <a:solidFill>
                  <a:schemeClr val="bg1"/>
                </a:solidFill>
                <a:latin typeface="Montserrat" pitchFamily="2" charset="0"/>
                <a:sym typeface="Wingdings" panose="05000000000000000000" pitchFamily="2" charset="2"/>
              </a:rPr>
              <a:t> Disponibilité des aliments en quantité suffisante par pays classé dans différentes catégories en </a:t>
            </a:r>
            <a:r>
              <a:rPr lang="fr-FR" b="1" dirty="0">
                <a:solidFill>
                  <a:schemeClr val="bg1"/>
                </a:solidFill>
                <a:latin typeface="Montserrat" pitchFamily="2" charset="0"/>
                <a:sym typeface="Wingdings" panose="05000000000000000000" pitchFamily="2" charset="2"/>
              </a:rPr>
              <a:t>2017</a:t>
            </a:r>
          </a:p>
          <a:p>
            <a:endParaRPr lang="fr-FR" dirty="0">
              <a:solidFill>
                <a:schemeClr val="bg1"/>
              </a:solidFill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Montserrat" pitchFamily="2" charset="0"/>
              </a:rPr>
              <a:t>Insécurité alimentaire </a:t>
            </a:r>
            <a:r>
              <a:rPr lang="fr-FR" dirty="0">
                <a:solidFill>
                  <a:schemeClr val="bg1"/>
                </a:solidFill>
                <a:latin typeface="Montserrat" pitchFamily="2" charset="0"/>
                <a:sym typeface="Wingdings" panose="05000000000000000000" pitchFamily="2" charset="2"/>
              </a:rPr>
              <a:t> Recensement par pays du nombre de personnes en sous-nutrition entre </a:t>
            </a:r>
            <a:r>
              <a:rPr lang="fr-FR" b="1" dirty="0">
                <a:solidFill>
                  <a:schemeClr val="bg1"/>
                </a:solidFill>
                <a:latin typeface="Montserrat" pitchFamily="2" charset="0"/>
                <a:sym typeface="Wingdings" panose="05000000000000000000" pitchFamily="2" charset="2"/>
              </a:rPr>
              <a:t>2013</a:t>
            </a:r>
            <a:r>
              <a:rPr lang="fr-FR" dirty="0">
                <a:solidFill>
                  <a:schemeClr val="bg1"/>
                </a:solidFill>
                <a:latin typeface="Montserrat" pitchFamily="2" charset="0"/>
                <a:sym typeface="Wingdings" panose="05000000000000000000" pitchFamily="2" charset="2"/>
              </a:rPr>
              <a:t> et </a:t>
            </a:r>
            <a:r>
              <a:rPr lang="fr-FR" b="1" dirty="0">
                <a:solidFill>
                  <a:schemeClr val="bg1"/>
                </a:solidFill>
                <a:latin typeface="Montserrat" pitchFamily="2" charset="0"/>
                <a:sym typeface="Wingdings" panose="05000000000000000000" pitchFamily="2" charset="2"/>
              </a:rPr>
              <a:t>2017</a:t>
            </a:r>
          </a:p>
          <a:p>
            <a:endParaRPr lang="fr-FR" dirty="0">
              <a:solidFill>
                <a:schemeClr val="bg1"/>
              </a:solidFill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Montserrat" pitchFamily="2" charset="0"/>
              </a:rPr>
              <a:t>Population </a:t>
            </a:r>
            <a:r>
              <a:rPr lang="fr-FR" dirty="0">
                <a:solidFill>
                  <a:schemeClr val="bg1"/>
                </a:solidFill>
                <a:latin typeface="Montserrat" pitchFamily="2" charset="0"/>
                <a:sym typeface="Wingdings" panose="05000000000000000000" pitchFamily="2" charset="2"/>
              </a:rPr>
              <a:t> Recensement par pays de la population mondiale entre </a:t>
            </a:r>
            <a:r>
              <a:rPr lang="fr-FR" b="1" dirty="0">
                <a:solidFill>
                  <a:schemeClr val="bg1"/>
                </a:solidFill>
                <a:latin typeface="Montserrat" pitchFamily="2" charset="0"/>
                <a:sym typeface="Wingdings" panose="05000000000000000000" pitchFamily="2" charset="2"/>
              </a:rPr>
              <a:t>2013</a:t>
            </a:r>
            <a:r>
              <a:rPr lang="fr-FR" dirty="0">
                <a:solidFill>
                  <a:schemeClr val="bg1"/>
                </a:solidFill>
                <a:latin typeface="Montserrat" pitchFamily="2" charset="0"/>
                <a:sym typeface="Wingdings" panose="05000000000000000000" pitchFamily="2" charset="2"/>
              </a:rPr>
              <a:t> et </a:t>
            </a:r>
            <a:r>
              <a:rPr lang="fr-FR" b="1" dirty="0">
                <a:solidFill>
                  <a:schemeClr val="bg1"/>
                </a:solidFill>
                <a:latin typeface="Montserrat" pitchFamily="2" charset="0"/>
                <a:sym typeface="Wingdings" panose="05000000000000000000" pitchFamily="2" charset="2"/>
              </a:rPr>
              <a:t>2017</a:t>
            </a:r>
          </a:p>
          <a:p>
            <a:endParaRPr lang="fr-FR" dirty="0">
              <a:solidFill>
                <a:schemeClr val="bg1"/>
              </a:solidFill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Montserrat" pitchFamily="2" charset="0"/>
              </a:rPr>
              <a:t>Aide alimentaire </a:t>
            </a:r>
            <a:r>
              <a:rPr lang="fr-FR" dirty="0">
                <a:solidFill>
                  <a:schemeClr val="bg1"/>
                </a:solidFill>
                <a:latin typeface="Montserrat" pitchFamily="2" charset="0"/>
                <a:sym typeface="Wingdings" panose="05000000000000000000" pitchFamily="2" charset="2"/>
              </a:rPr>
              <a:t> Liste de produits alimentaires fournis aux pays dans le besoin entre </a:t>
            </a:r>
            <a:r>
              <a:rPr lang="fr-FR" b="1" dirty="0">
                <a:solidFill>
                  <a:schemeClr val="bg1"/>
                </a:solidFill>
                <a:latin typeface="Montserrat" pitchFamily="2" charset="0"/>
                <a:sym typeface="Wingdings" panose="05000000000000000000" pitchFamily="2" charset="2"/>
              </a:rPr>
              <a:t>2013</a:t>
            </a:r>
            <a:r>
              <a:rPr lang="fr-FR" dirty="0">
                <a:solidFill>
                  <a:schemeClr val="bg1"/>
                </a:solidFill>
                <a:latin typeface="Montserrat" pitchFamily="2" charset="0"/>
                <a:sym typeface="Wingdings" panose="05000000000000000000" pitchFamily="2" charset="2"/>
              </a:rPr>
              <a:t> et </a:t>
            </a:r>
            <a:r>
              <a:rPr lang="fr-FR" b="1" dirty="0">
                <a:solidFill>
                  <a:schemeClr val="bg1"/>
                </a:solidFill>
                <a:latin typeface="Montserrat" pitchFamily="2" charset="0"/>
                <a:sym typeface="Wingdings" panose="05000000000000000000" pitchFamily="2" charset="2"/>
              </a:rPr>
              <a:t>2016</a:t>
            </a:r>
            <a:endParaRPr lang="fr-FR" b="1" dirty="0">
              <a:solidFill>
                <a:schemeClr val="bg1"/>
              </a:solidFill>
              <a:latin typeface="Montserrat" pitchFamily="2" charset="0"/>
            </a:endParaRPr>
          </a:p>
          <a:p>
            <a:endParaRPr lang="fr-FR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fr-FR" dirty="0">
                <a:solidFill>
                  <a:schemeClr val="bg1"/>
                </a:solidFill>
                <a:latin typeface="Montserrat" pitchFamily="2" charset="0"/>
              </a:rPr>
              <a:t>L’ensemble de ces données est accessible librement via la base de données FAOSTAT.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261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Méthodologie de l’analyse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820D17EC-D608-A7CE-39FC-C4A16AEF0D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2066949"/>
              </p:ext>
            </p:extLst>
          </p:nvPr>
        </p:nvGraphicFramePr>
        <p:xfrm>
          <a:off x="1298271" y="542396"/>
          <a:ext cx="9595457" cy="5773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38307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B43739E5-183A-3EDE-9889-26043E91AF78}"/>
              </a:ext>
            </a:extLst>
          </p:cNvPr>
          <p:cNvSpPr txBox="1"/>
          <p:nvPr/>
        </p:nvSpPr>
        <p:spPr>
          <a:xfrm>
            <a:off x="3317724" y="3013501"/>
            <a:ext cx="5556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/>
                </a:solidFill>
                <a:latin typeface="Montserrat SemiBold" pitchFamily="2" charset="0"/>
              </a:rPr>
              <a:t>Analyses</a:t>
            </a:r>
          </a:p>
        </p:txBody>
      </p:sp>
      <p:pic>
        <p:nvPicPr>
          <p:cNvPr id="10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8DA70E59-40C1-060B-FED2-49C3D646B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07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2" name="Graphique 11">
                <a:extLst>
                  <a:ext uri="{FF2B5EF4-FFF2-40B4-BE49-F238E27FC236}">
                    <a16:creationId xmlns:a16="http://schemas.microsoft.com/office/drawing/2014/main" id="{72211B50-F1F4-FD14-27C5-2D00B6037AC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87954584"/>
                  </p:ext>
                </p:extLst>
              </p:nvPr>
            </p:nvGraphicFramePr>
            <p:xfrm>
              <a:off x="838199" y="1690688"/>
              <a:ext cx="10515599" cy="437760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2" name="Graphique 11">
                <a:extLst>
                  <a:ext uri="{FF2B5EF4-FFF2-40B4-BE49-F238E27FC236}">
                    <a16:creationId xmlns:a16="http://schemas.microsoft.com/office/drawing/2014/main" id="{72211B50-F1F4-FD14-27C5-2D00B6037AC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199" y="1690688"/>
                <a:ext cx="10515599" cy="4377603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1. Proportion de personnes en état de sous-nutrition dans le monde en 2017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FAF3ED9-D59A-5ADC-E93D-C943CCE432F4}"/>
              </a:ext>
            </a:extLst>
          </p:cNvPr>
          <p:cNvSpPr txBox="1"/>
          <p:nvPr/>
        </p:nvSpPr>
        <p:spPr>
          <a:xfrm>
            <a:off x="987739" y="1883492"/>
            <a:ext cx="88594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618EC5"/>
                </a:solidFill>
                <a:latin typeface="Montserrat" pitchFamily="2" charset="0"/>
              </a:rPr>
              <a:t>536</a:t>
            </a:r>
            <a:r>
              <a:rPr lang="fr-FR" sz="2800" dirty="0">
                <a:solidFill>
                  <a:srgbClr val="618EC5"/>
                </a:solidFill>
                <a:latin typeface="Montserrat" pitchFamily="2" charset="0"/>
              </a:rPr>
              <a:t> millions de personnes souffrent de sous-nutrition dans le </a:t>
            </a:r>
            <a:r>
              <a:rPr lang="fr-FR" sz="2800" b="1" dirty="0">
                <a:solidFill>
                  <a:srgbClr val="618EC5"/>
                </a:solidFill>
                <a:latin typeface="Montserrat" pitchFamily="2" charset="0"/>
              </a:rPr>
              <a:t>monde</a:t>
            </a:r>
            <a:r>
              <a:rPr lang="fr-FR" sz="2800" dirty="0">
                <a:solidFill>
                  <a:srgbClr val="618EC5"/>
                </a:solidFill>
                <a:latin typeface="Montserrat" pitchFamily="2" charset="0"/>
              </a:rPr>
              <a:t> en 2017, cela représente presque </a:t>
            </a:r>
            <a:r>
              <a:rPr lang="fr-FR" sz="2800" b="1" dirty="0">
                <a:solidFill>
                  <a:srgbClr val="618EC5"/>
                </a:solidFill>
                <a:latin typeface="Montserrat" pitchFamily="2" charset="0"/>
              </a:rPr>
              <a:t>1 humain sur 10</a:t>
            </a:r>
            <a:r>
              <a:rPr lang="fr-FR" sz="2800" dirty="0">
                <a:solidFill>
                  <a:srgbClr val="618EC5"/>
                </a:solidFill>
                <a:latin typeface="Montserrat" pitchFamily="2" charset="0"/>
              </a:rPr>
              <a:t>…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F3BA910-ED4D-ABEB-EA4C-B84483E8C3BE}"/>
              </a:ext>
            </a:extLst>
          </p:cNvPr>
          <p:cNvSpPr txBox="1"/>
          <p:nvPr/>
        </p:nvSpPr>
        <p:spPr>
          <a:xfrm>
            <a:off x="10428861" y="3036250"/>
            <a:ext cx="987065" cy="1686478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fr-FR" sz="4400" dirty="0">
                <a:solidFill>
                  <a:schemeClr val="bg1"/>
                </a:solidFill>
                <a:latin typeface="Montserrat SemiBold" pitchFamily="2" charset="0"/>
              </a:rPr>
              <a:t>7%</a:t>
            </a:r>
          </a:p>
        </p:txBody>
      </p:sp>
    </p:spTree>
    <p:extLst>
      <p:ext uri="{BB962C8B-B14F-4D97-AF65-F5344CB8AC3E}">
        <p14:creationId xmlns:p14="http://schemas.microsoft.com/office/powerpoint/2010/main" val="315535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2. Nombre théorique de personnes qui pourraient être nourries en 2017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E03A16F6-6B95-F1EE-2544-86CD2162D8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4928210"/>
              </p:ext>
            </p:extLst>
          </p:nvPr>
        </p:nvGraphicFramePr>
        <p:xfrm>
          <a:off x="6150263" y="1093547"/>
          <a:ext cx="5203537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61FD2A28-AA97-CB3F-9644-D1219961B15B}"/>
              </a:ext>
            </a:extLst>
          </p:cNvPr>
          <p:cNvSpPr txBox="1"/>
          <p:nvPr/>
        </p:nvSpPr>
        <p:spPr>
          <a:xfrm>
            <a:off x="838200" y="2305615"/>
            <a:ext cx="560416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Avec 2200 Kcal par personne et par jour*,</a:t>
            </a:r>
          </a:p>
          <a:p>
            <a:r>
              <a:rPr lang="fr-FR" sz="2800" b="1" dirty="0">
                <a:solidFill>
                  <a:schemeClr val="bg1"/>
                </a:solidFill>
                <a:latin typeface="Montserrat" pitchFamily="2" charset="0"/>
              </a:rPr>
              <a:t>126% </a:t>
            </a:r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de la population mondiale pourrait être nourrie avec la totalité des kcals disponible.</a:t>
            </a:r>
          </a:p>
          <a:p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fr-FR" sz="800" dirty="0">
                <a:solidFill>
                  <a:schemeClr val="bg1"/>
                </a:solidFill>
                <a:latin typeface="Montserrat" pitchFamily="2" charset="0"/>
              </a:rPr>
              <a:t>*https://www.lepoint.fr/monde/la-fao-defend-ses-chiffres-de-la-faim-29-11-2016-2086634_24.php</a:t>
            </a:r>
          </a:p>
        </p:txBody>
      </p:sp>
    </p:spTree>
    <p:extLst>
      <p:ext uri="{BB962C8B-B14F-4D97-AF65-F5344CB8AC3E}">
        <p14:creationId xmlns:p14="http://schemas.microsoft.com/office/powerpoint/2010/main" val="3209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3. Nombre théorique de personnes qui pourraient être nourries uniquement avec des végétaux en 2017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D839C94-7134-738D-4225-34B14B0C15D6}"/>
              </a:ext>
            </a:extLst>
          </p:cNvPr>
          <p:cNvSpPr txBox="1"/>
          <p:nvPr/>
        </p:nvSpPr>
        <p:spPr>
          <a:xfrm>
            <a:off x="7353302" y="2159063"/>
            <a:ext cx="379423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Les produits d’origine végétale représentent plus de </a:t>
            </a:r>
            <a:r>
              <a:rPr lang="fr-FR" sz="2800" b="1" dirty="0">
                <a:solidFill>
                  <a:schemeClr val="bg1"/>
                </a:solidFill>
                <a:latin typeface="Montserrat" pitchFamily="2" charset="0"/>
              </a:rPr>
              <a:t>80% </a:t>
            </a:r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de la disponibilité alimentaire mondiale !</a:t>
            </a:r>
          </a:p>
        </p:txBody>
      </p:sp>
      <p:pic>
        <p:nvPicPr>
          <p:cNvPr id="4" name="Graphique 3" descr="Céréale avec un remplissage uni">
            <a:extLst>
              <a:ext uri="{FF2B5EF4-FFF2-40B4-BE49-F238E27FC236}">
                <a16:creationId xmlns:a16="http://schemas.microsoft.com/office/drawing/2014/main" id="{73F23165-8327-37A9-9482-0A6D8F873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9700" y="3733855"/>
            <a:ext cx="914400" cy="914400"/>
          </a:xfrm>
          <a:prstGeom prst="rect">
            <a:avLst/>
          </a:prstGeom>
        </p:spPr>
      </p:pic>
      <p:pic>
        <p:nvPicPr>
          <p:cNvPr id="3" name="Graphique 2" descr="Céréale avec un remplissage uni">
            <a:extLst>
              <a:ext uri="{FF2B5EF4-FFF2-40B4-BE49-F238E27FC236}">
                <a16:creationId xmlns:a16="http://schemas.microsoft.com/office/drawing/2014/main" id="{F1083758-D6BA-F189-98FD-6EFF03C87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4100" y="3728062"/>
            <a:ext cx="914400" cy="914400"/>
          </a:xfrm>
          <a:prstGeom prst="rect">
            <a:avLst/>
          </a:prstGeom>
        </p:spPr>
      </p:pic>
      <p:pic>
        <p:nvPicPr>
          <p:cNvPr id="5" name="Graphique 4" descr="Céréale avec un remplissage uni">
            <a:extLst>
              <a:ext uri="{FF2B5EF4-FFF2-40B4-BE49-F238E27FC236}">
                <a16:creationId xmlns:a16="http://schemas.microsoft.com/office/drawing/2014/main" id="{EADF9281-0F5F-4EEA-9D08-6144077CC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8500" y="3728062"/>
            <a:ext cx="914400" cy="914400"/>
          </a:xfrm>
          <a:prstGeom prst="rect">
            <a:avLst/>
          </a:prstGeom>
        </p:spPr>
      </p:pic>
      <p:pic>
        <p:nvPicPr>
          <p:cNvPr id="7" name="Graphique 6" descr="Céréale avec un remplissage uni">
            <a:extLst>
              <a:ext uri="{FF2B5EF4-FFF2-40B4-BE49-F238E27FC236}">
                <a16:creationId xmlns:a16="http://schemas.microsoft.com/office/drawing/2014/main" id="{77813213-DCCE-931D-2CAB-4389E5E1F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9700" y="2800667"/>
            <a:ext cx="914400" cy="914400"/>
          </a:xfrm>
          <a:prstGeom prst="rect">
            <a:avLst/>
          </a:prstGeom>
        </p:spPr>
      </p:pic>
      <p:pic>
        <p:nvPicPr>
          <p:cNvPr id="8" name="Graphique 7" descr="Céréale avec un remplissage uni">
            <a:extLst>
              <a:ext uri="{FF2B5EF4-FFF2-40B4-BE49-F238E27FC236}">
                <a16:creationId xmlns:a16="http://schemas.microsoft.com/office/drawing/2014/main" id="{2375DDB1-8E73-52A9-D4AC-B06D4B033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4100" y="2799601"/>
            <a:ext cx="914400" cy="914400"/>
          </a:xfrm>
          <a:prstGeom prst="rect">
            <a:avLst/>
          </a:prstGeom>
        </p:spPr>
      </p:pic>
      <p:pic>
        <p:nvPicPr>
          <p:cNvPr id="9" name="Graphique 8" descr="Céréale avec un remplissage uni">
            <a:extLst>
              <a:ext uri="{FF2B5EF4-FFF2-40B4-BE49-F238E27FC236}">
                <a16:creationId xmlns:a16="http://schemas.microsoft.com/office/drawing/2014/main" id="{66790ED5-7A5D-ED94-D23E-B00198D0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8500" y="2819455"/>
            <a:ext cx="914400" cy="914400"/>
          </a:xfrm>
          <a:prstGeom prst="rect">
            <a:avLst/>
          </a:prstGeom>
        </p:spPr>
      </p:pic>
      <p:pic>
        <p:nvPicPr>
          <p:cNvPr id="13" name="Graphique 12" descr="Céréale avec un remplissage uni">
            <a:extLst>
              <a:ext uri="{FF2B5EF4-FFF2-40B4-BE49-F238E27FC236}">
                <a16:creationId xmlns:a16="http://schemas.microsoft.com/office/drawing/2014/main" id="{1FFC018D-C439-9B0A-6D6E-EE0D44210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2900" y="2805394"/>
            <a:ext cx="914400" cy="914400"/>
          </a:xfrm>
          <a:prstGeom prst="rect">
            <a:avLst/>
          </a:prstGeom>
        </p:spPr>
      </p:pic>
      <p:pic>
        <p:nvPicPr>
          <p:cNvPr id="14" name="Graphique 13" descr="Céréale avec un remplissage uni">
            <a:extLst>
              <a:ext uri="{FF2B5EF4-FFF2-40B4-BE49-F238E27FC236}">
                <a16:creationId xmlns:a16="http://schemas.microsoft.com/office/drawing/2014/main" id="{413BF933-14E4-01A0-D43A-BE1501B5E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7300" y="2799601"/>
            <a:ext cx="914400" cy="914400"/>
          </a:xfrm>
          <a:prstGeom prst="rect">
            <a:avLst/>
          </a:prstGeom>
        </p:spPr>
      </p:pic>
      <p:pic>
        <p:nvPicPr>
          <p:cNvPr id="20" name="Graphique 19" descr="Taureau avec un remplissage uni">
            <a:extLst>
              <a:ext uri="{FF2B5EF4-FFF2-40B4-BE49-F238E27FC236}">
                <a16:creationId xmlns:a16="http://schemas.microsoft.com/office/drawing/2014/main" id="{5B24E84C-99D4-0FA5-A01E-7E55EF61F6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2900" y="3728062"/>
            <a:ext cx="914400" cy="914400"/>
          </a:xfrm>
          <a:prstGeom prst="rect">
            <a:avLst/>
          </a:prstGeom>
        </p:spPr>
      </p:pic>
      <p:pic>
        <p:nvPicPr>
          <p:cNvPr id="21" name="Graphique 20" descr="Taureau avec un remplissage uni">
            <a:extLst>
              <a:ext uri="{FF2B5EF4-FFF2-40B4-BE49-F238E27FC236}">
                <a16:creationId xmlns:a16="http://schemas.microsoft.com/office/drawing/2014/main" id="{39564E68-444C-266C-4782-F373D34ABA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67992" y="371333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146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3. Nombre théorique de personnes qui pourraient être nourries uniquement avec des végétaux en 2017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1DB600A7-606D-7787-B120-D3DAB5A249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1943545"/>
              </p:ext>
            </p:extLst>
          </p:nvPr>
        </p:nvGraphicFramePr>
        <p:xfrm>
          <a:off x="6150263" y="1074208"/>
          <a:ext cx="5203537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4D839C94-7134-738D-4225-34B14B0C15D6}"/>
              </a:ext>
            </a:extLst>
          </p:cNvPr>
          <p:cNvSpPr txBox="1"/>
          <p:nvPr/>
        </p:nvSpPr>
        <p:spPr>
          <a:xfrm>
            <a:off x="838200" y="2660156"/>
            <a:ext cx="46585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Montserrat" pitchFamily="2" charset="0"/>
              </a:rPr>
              <a:t>103% </a:t>
            </a:r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de la population mondiale pourrait être nourrie seulement avec des produits d’origine végétale !</a:t>
            </a:r>
          </a:p>
        </p:txBody>
      </p:sp>
      <p:pic>
        <p:nvPicPr>
          <p:cNvPr id="4" name="Graphique 3" descr="Céréale avec un remplissage uni">
            <a:extLst>
              <a:ext uri="{FF2B5EF4-FFF2-40B4-BE49-F238E27FC236}">
                <a16:creationId xmlns:a16="http://schemas.microsoft.com/office/drawing/2014/main" id="{BD7324B9-398B-E0BB-2947-3097A97129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7060" y="37214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617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4. Répartition de la disponibilité intérieure mondiale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graphicFrame>
        <p:nvGraphicFramePr>
          <p:cNvPr id="8" name="Graphique 7">
            <a:extLst>
              <a:ext uri="{FF2B5EF4-FFF2-40B4-BE49-F238E27FC236}">
                <a16:creationId xmlns:a16="http://schemas.microsoft.com/office/drawing/2014/main" id="{AE7C89F1-5437-3966-E79F-01A6328DEF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7784955"/>
              </p:ext>
            </p:extLst>
          </p:nvPr>
        </p:nvGraphicFramePr>
        <p:xfrm>
          <a:off x="107190" y="1456205"/>
          <a:ext cx="7541224" cy="4775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2886FE4E-8D51-B7C4-7554-97E9C8BB50B5}"/>
              </a:ext>
            </a:extLst>
          </p:cNvPr>
          <p:cNvSpPr txBox="1"/>
          <p:nvPr/>
        </p:nvSpPr>
        <p:spPr>
          <a:xfrm>
            <a:off x="6695209" y="2521059"/>
            <a:ext cx="47878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Montserrat" pitchFamily="2" charset="0"/>
              </a:rPr>
              <a:t>Seulement la moitié </a:t>
            </a:r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de la disponibilité intérieure mondiale est consacrée à l’alimentation humaine !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F4059B2-2B44-685F-0EA9-9D4F72CBBD03}"/>
              </a:ext>
            </a:extLst>
          </p:cNvPr>
          <p:cNvSpPr txBox="1"/>
          <p:nvPr/>
        </p:nvSpPr>
        <p:spPr>
          <a:xfrm>
            <a:off x="3941794" y="3022264"/>
            <a:ext cx="2466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/>
                </a:solidFill>
                <a:latin typeface="Montserrat SemiBold" pitchFamily="2" charset="0"/>
              </a:rPr>
              <a:t>49,5%</a:t>
            </a:r>
          </a:p>
        </p:txBody>
      </p:sp>
    </p:spTree>
    <p:extLst>
      <p:ext uri="{BB962C8B-B14F-4D97-AF65-F5344CB8AC3E}">
        <p14:creationId xmlns:p14="http://schemas.microsoft.com/office/powerpoint/2010/main" val="1830545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5. Part de l'utilisation des principales céréales entre l’alimentation humaine et animale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E1DB3FA9-F2E8-B76A-BDE2-00D37C8930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3521554"/>
              </p:ext>
            </p:extLst>
          </p:nvPr>
        </p:nvGraphicFramePr>
        <p:xfrm>
          <a:off x="4743450" y="1888270"/>
          <a:ext cx="7131810" cy="40751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53165B32-E8F6-8C34-D7D7-F6F826A721FD}"/>
              </a:ext>
            </a:extLst>
          </p:cNvPr>
          <p:cNvSpPr txBox="1"/>
          <p:nvPr/>
        </p:nvSpPr>
        <p:spPr>
          <a:xfrm>
            <a:off x="838200" y="2156130"/>
            <a:ext cx="33813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Le riz, le millet, et le blé sont utilisés en priorité pour les humains, le reste étant principalement réservé aux animaux.</a:t>
            </a:r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451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6. Liste des 10 pays où la proportion de personnes en état de sous-nutrition est la plus forte en 2017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92E68FEF-F5E4-64F3-5F2E-447129D57C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9771345"/>
              </p:ext>
            </p:extLst>
          </p:nvPr>
        </p:nvGraphicFramePr>
        <p:xfrm>
          <a:off x="-1832513" y="1973472"/>
          <a:ext cx="9160796" cy="3615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BFE4A659-BA18-B276-FBA0-E99E0E379E75}"/>
              </a:ext>
            </a:extLst>
          </p:cNvPr>
          <p:cNvSpPr txBox="1"/>
          <p:nvPr/>
        </p:nvSpPr>
        <p:spPr>
          <a:xfrm>
            <a:off x="6851705" y="2011710"/>
            <a:ext cx="450209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Sur les 3 premiers pays, presque la </a:t>
            </a:r>
            <a:r>
              <a:rPr lang="fr-FR" sz="2800" b="1" dirty="0">
                <a:solidFill>
                  <a:schemeClr val="bg1"/>
                </a:solidFill>
                <a:effectLst/>
                <a:latin typeface="Montserrat" pitchFamily="2" charset="0"/>
              </a:rPr>
              <a:t>moitié de la population</a:t>
            </a:r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 est en état de sous-nutrition !</a:t>
            </a:r>
            <a:b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</a:br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Ces 10 pays représentent </a:t>
            </a:r>
            <a:r>
              <a:rPr lang="fr-FR" sz="2800" b="1" dirty="0">
                <a:solidFill>
                  <a:schemeClr val="bg1"/>
                </a:solidFill>
                <a:effectLst/>
                <a:latin typeface="Montserrat" pitchFamily="2" charset="0"/>
              </a:rPr>
              <a:t>11% </a:t>
            </a:r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de la population mondiale en sous-nutrition.</a:t>
            </a:r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730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7. Liste des 10 pays qui ont le plus bénéficié de l’aide alimentaire entre 2013 et 2016 (en kg)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D0732A1E-2723-22F5-15A9-40D5C9C9CE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7352285"/>
              </p:ext>
            </p:extLst>
          </p:nvPr>
        </p:nvGraphicFramePr>
        <p:xfrm>
          <a:off x="-1248623" y="2011572"/>
          <a:ext cx="9160796" cy="3615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0E1F4337-6558-21BE-5906-69CD51BE5F94}"/>
              </a:ext>
            </a:extLst>
          </p:cNvPr>
          <p:cNvSpPr txBox="1"/>
          <p:nvPr/>
        </p:nvSpPr>
        <p:spPr>
          <a:xfrm>
            <a:off x="6641826" y="2696140"/>
            <a:ext cx="491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On ne retrouve aucun des 10 pays avec la plus grande proportion de personnes en sous-nutrition.</a:t>
            </a:r>
            <a:b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</a:br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Ces 10 pays représentent à eux seuls </a:t>
            </a:r>
            <a:r>
              <a:rPr lang="fr-FR" sz="2800" b="1" dirty="0">
                <a:solidFill>
                  <a:schemeClr val="bg1"/>
                </a:solidFill>
                <a:effectLst/>
                <a:latin typeface="Montserrat" pitchFamily="2" charset="0"/>
              </a:rPr>
              <a:t>68% </a:t>
            </a:r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de l’aide mondiale.</a:t>
            </a:r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480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8. Évolution de l’aide alimentaire pour les 5 pays qui en ont le plus bénéficié entre 2013 et 2016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133F54F8-D2E1-2928-5E9E-58857CEC37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7375368"/>
              </p:ext>
            </p:extLst>
          </p:nvPr>
        </p:nvGraphicFramePr>
        <p:xfrm>
          <a:off x="221272" y="1690688"/>
          <a:ext cx="6933580" cy="4131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A228B56B-7C07-E2D2-A5F2-94D57C5A5D30}"/>
              </a:ext>
            </a:extLst>
          </p:cNvPr>
          <p:cNvSpPr txBox="1"/>
          <p:nvPr/>
        </p:nvSpPr>
        <p:spPr>
          <a:xfrm>
            <a:off x="7307317" y="2305615"/>
            <a:ext cx="40464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Le Yémen est toujours dépendant de l’aide tandis que les 4 autres pays n’en n’ont quasi plus bénéficié entre 2015 et 2016.</a:t>
            </a:r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562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9. Liste des 10 pays qui ont la plus forte disponibilité alimentaire par habitant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6163F67C-52A4-AC8C-291E-EAB6057F01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9960000"/>
              </p:ext>
            </p:extLst>
          </p:nvPr>
        </p:nvGraphicFramePr>
        <p:xfrm>
          <a:off x="838200" y="1895002"/>
          <a:ext cx="6560127" cy="4131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500AB724-7E7D-B2E2-B3F4-8666DC3A008A}"/>
              </a:ext>
            </a:extLst>
          </p:cNvPr>
          <p:cNvSpPr txBox="1"/>
          <p:nvPr/>
        </p:nvSpPr>
        <p:spPr>
          <a:xfrm>
            <a:off x="7512627" y="1946716"/>
            <a:ext cx="384117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Nous avons affaire ici à des </a:t>
            </a:r>
            <a:r>
              <a:rPr lang="fr-FR" sz="2800" b="1" dirty="0">
                <a:solidFill>
                  <a:schemeClr val="bg1"/>
                </a:solidFill>
                <a:latin typeface="Montserrat" pitchFamily="2" charset="0"/>
              </a:rPr>
              <a:t>pays</a:t>
            </a:r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 majoritairement</a:t>
            </a:r>
            <a:br>
              <a:rPr lang="fr-FR" sz="2800" dirty="0">
                <a:solidFill>
                  <a:schemeClr val="bg1"/>
                </a:solidFill>
                <a:latin typeface="Montserrat" pitchFamily="2" charset="0"/>
              </a:rPr>
            </a:br>
            <a:r>
              <a:rPr lang="fr-FR" sz="2800" b="1" dirty="0">
                <a:solidFill>
                  <a:schemeClr val="bg1"/>
                </a:solidFill>
                <a:latin typeface="Montserrat" pitchFamily="2" charset="0"/>
              </a:rPr>
              <a:t>développés</a:t>
            </a:r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.</a:t>
            </a:r>
          </a:p>
          <a:p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Tous </a:t>
            </a:r>
            <a:r>
              <a:rPr lang="fr-FR" sz="2800" b="1" dirty="0">
                <a:solidFill>
                  <a:schemeClr val="bg1"/>
                </a:solidFill>
                <a:latin typeface="Montserrat" pitchFamily="2" charset="0"/>
              </a:rPr>
              <a:t>surpassent</a:t>
            </a:r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 les recommandations de la FAO en kcals.</a:t>
            </a:r>
          </a:p>
        </p:txBody>
      </p:sp>
    </p:spTree>
    <p:extLst>
      <p:ext uri="{BB962C8B-B14F-4D97-AF65-F5344CB8AC3E}">
        <p14:creationId xmlns:p14="http://schemas.microsoft.com/office/powerpoint/2010/main" val="839782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9. Liste des 10 pays qui ont la plus faible disponibilité alimentaire par habitant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2D8FFB70-DE64-B3F3-F4A7-B3643116E7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7158566"/>
              </p:ext>
            </p:extLst>
          </p:nvPr>
        </p:nvGraphicFramePr>
        <p:xfrm>
          <a:off x="233173" y="1507525"/>
          <a:ext cx="6989801" cy="4563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44CF949B-EFDA-DD12-DED8-7C266162BB41}"/>
              </a:ext>
            </a:extLst>
          </p:cNvPr>
          <p:cNvSpPr txBox="1"/>
          <p:nvPr/>
        </p:nvSpPr>
        <p:spPr>
          <a:xfrm>
            <a:off x="7387731" y="2305615"/>
            <a:ext cx="39660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Aucun de ces 10 pays ne dépassent la recommandation des </a:t>
            </a:r>
            <a:r>
              <a:rPr lang="fr-FR" sz="2800" b="1" dirty="0">
                <a:solidFill>
                  <a:schemeClr val="bg1"/>
                </a:solidFill>
                <a:effectLst/>
                <a:latin typeface="Montserrat" pitchFamily="2" charset="0"/>
              </a:rPr>
              <a:t>2200 kcals</a:t>
            </a:r>
            <a:r>
              <a:rPr lang="fr-FR" sz="2800" dirty="0">
                <a:solidFill>
                  <a:schemeClr val="bg1"/>
                </a:solidFill>
                <a:effectLst/>
                <a:latin typeface="Montserrat" pitchFamily="2" charset="0"/>
              </a:rPr>
              <a:t> de </a:t>
            </a:r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la FAO.</a:t>
            </a:r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348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10. Étude sur le manioc en Thaïlande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EF69D55-90E4-17CC-74CB-2A0B2A9EC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95375"/>
            <a:ext cx="2333625" cy="2333625"/>
          </a:xfrm>
          <a:prstGeom prst="rect">
            <a:avLst/>
          </a:prstGeom>
        </p:spPr>
      </p:pic>
      <p:pic>
        <p:nvPicPr>
          <p:cNvPr id="1028" name="Picture 4" descr="Drapeau de la Thaïlande, Drapeaux du pays Thaïlande">
            <a:extLst>
              <a:ext uri="{FF2B5EF4-FFF2-40B4-BE49-F238E27FC236}">
                <a16:creationId xmlns:a16="http://schemas.microsoft.com/office/drawing/2014/main" id="{5FB7DD9A-C8A5-E015-7B47-95B44685E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663" y="1684133"/>
            <a:ext cx="560033" cy="37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5A5C774-6C4F-867E-4921-1C65F6D90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949" y="3429000"/>
            <a:ext cx="2333625" cy="2333625"/>
          </a:xfrm>
          <a:prstGeom prst="rect">
            <a:avLst/>
          </a:prstGeom>
        </p:spPr>
      </p:pic>
      <p:pic>
        <p:nvPicPr>
          <p:cNvPr id="14" name="Picture 4" descr="Drapeau de la Thaïlande, Drapeaux du pays Thaïlande">
            <a:extLst>
              <a:ext uri="{FF2B5EF4-FFF2-40B4-BE49-F238E27FC236}">
                <a16:creationId xmlns:a16="http://schemas.microsoft.com/office/drawing/2014/main" id="{0AD3C538-EFA4-3D9C-48EF-190101CD2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744" y="3665278"/>
            <a:ext cx="560033" cy="37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9EBAF8EF-C5AB-C04D-5D45-A1F84374ABD7}"/>
              </a:ext>
            </a:extLst>
          </p:cNvPr>
          <p:cNvSpPr txBox="1"/>
          <p:nvPr/>
        </p:nvSpPr>
        <p:spPr>
          <a:xfrm>
            <a:off x="838200" y="2746725"/>
            <a:ext cx="23336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effectLst/>
                <a:latin typeface="Montserrat" pitchFamily="2" charset="0"/>
              </a:rPr>
              <a:t>Producteur</a:t>
            </a:r>
          </a:p>
          <a:p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36CB125-833A-2852-EB55-FE8B0006DBD8}"/>
              </a:ext>
            </a:extLst>
          </p:cNvPr>
          <p:cNvSpPr txBox="1"/>
          <p:nvPr/>
        </p:nvSpPr>
        <p:spPr>
          <a:xfrm>
            <a:off x="8919719" y="5080350"/>
            <a:ext cx="24340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effectLst/>
                <a:latin typeface="Montserrat" pitchFamily="2" charset="0"/>
              </a:rPr>
              <a:t>Exportateur</a:t>
            </a:r>
          </a:p>
          <a:p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E3829C1-9E94-30D4-DC93-1614E62FD478}"/>
              </a:ext>
            </a:extLst>
          </p:cNvPr>
          <p:cNvSpPr txBox="1"/>
          <p:nvPr/>
        </p:nvSpPr>
        <p:spPr>
          <a:xfrm>
            <a:off x="3546958" y="2000523"/>
            <a:ext cx="67823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La Thaïlande représente </a:t>
            </a:r>
            <a:r>
              <a:rPr lang="fr-FR" sz="2800" b="1" dirty="0">
                <a:solidFill>
                  <a:schemeClr val="bg1"/>
                </a:solidFill>
                <a:effectLst/>
                <a:latin typeface="Montserrat" pitchFamily="2" charset="0"/>
              </a:rPr>
              <a:t>12%</a:t>
            </a:r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 de la production mondiale de manioc.</a:t>
            </a:r>
          </a:p>
          <a:p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618A27E-6CE0-F7D5-CE14-28F59FB8E919}"/>
              </a:ext>
            </a:extLst>
          </p:cNvPr>
          <p:cNvSpPr txBox="1"/>
          <p:nvPr/>
        </p:nvSpPr>
        <p:spPr>
          <a:xfrm>
            <a:off x="2597678" y="4344370"/>
            <a:ext cx="67823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La Thaïlande exporte </a:t>
            </a:r>
            <a:r>
              <a:rPr lang="fr-FR" sz="2800" b="1" dirty="0">
                <a:solidFill>
                  <a:schemeClr val="bg1"/>
                </a:solidFill>
                <a:effectLst/>
                <a:latin typeface="Montserrat" pitchFamily="2" charset="0"/>
              </a:rPr>
              <a:t>70%</a:t>
            </a:r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 de la production mondiale de Ma</a:t>
            </a:r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nioc.</a:t>
            </a:r>
            <a:endParaRPr lang="fr-FR" sz="2800" b="0" dirty="0">
              <a:solidFill>
                <a:schemeClr val="bg1"/>
              </a:solidFill>
              <a:effectLst/>
              <a:latin typeface="Montserrat" pitchFamily="2" charset="0"/>
            </a:endParaRPr>
          </a:p>
          <a:p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16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10. Étude sur le manioc en Thaïlande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pic>
        <p:nvPicPr>
          <p:cNvPr id="4" name="Graphique 3" descr="Homme contour">
            <a:extLst>
              <a:ext uri="{FF2B5EF4-FFF2-40B4-BE49-F238E27FC236}">
                <a16:creationId xmlns:a16="http://schemas.microsoft.com/office/drawing/2014/main" id="{65E4E31D-92D9-E0D0-BEC7-1D2CB02B8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8018" y="1889102"/>
            <a:ext cx="1798710" cy="1798710"/>
          </a:xfrm>
          <a:prstGeom prst="rect">
            <a:avLst/>
          </a:prstGeom>
        </p:spPr>
      </p:pic>
      <p:pic>
        <p:nvPicPr>
          <p:cNvPr id="11" name="Graphique 10" descr="Homme avec un remplissage uni">
            <a:extLst>
              <a:ext uri="{FF2B5EF4-FFF2-40B4-BE49-F238E27FC236}">
                <a16:creationId xmlns:a16="http://schemas.microsoft.com/office/drawing/2014/main" id="{250385B0-6D3F-3988-C86A-55B793320E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1034" y="1915014"/>
            <a:ext cx="1798710" cy="1798710"/>
          </a:xfrm>
          <a:prstGeom prst="rect">
            <a:avLst/>
          </a:prstGeom>
        </p:spPr>
      </p:pic>
      <p:pic>
        <p:nvPicPr>
          <p:cNvPr id="22" name="Graphique 21" descr="Homme contour">
            <a:extLst>
              <a:ext uri="{FF2B5EF4-FFF2-40B4-BE49-F238E27FC236}">
                <a16:creationId xmlns:a16="http://schemas.microsoft.com/office/drawing/2014/main" id="{051CB45B-ED31-513F-91D2-BDCF1580A7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5270" y="1889102"/>
            <a:ext cx="1798710" cy="1798710"/>
          </a:xfrm>
          <a:prstGeom prst="rect">
            <a:avLst/>
          </a:prstGeom>
        </p:spPr>
      </p:pic>
      <p:pic>
        <p:nvPicPr>
          <p:cNvPr id="25" name="Graphique 24" descr="Homme contour">
            <a:extLst>
              <a:ext uri="{FF2B5EF4-FFF2-40B4-BE49-F238E27FC236}">
                <a16:creationId xmlns:a16="http://schemas.microsoft.com/office/drawing/2014/main" id="{71D4DDC6-DC00-9B5B-CF7A-271B4C256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4905" y="1889102"/>
            <a:ext cx="1798710" cy="1798710"/>
          </a:xfrm>
          <a:prstGeom prst="rect">
            <a:avLst/>
          </a:prstGeom>
        </p:spPr>
      </p:pic>
      <p:pic>
        <p:nvPicPr>
          <p:cNvPr id="26" name="Graphique 25" descr="Homme contour">
            <a:extLst>
              <a:ext uri="{FF2B5EF4-FFF2-40B4-BE49-F238E27FC236}">
                <a16:creationId xmlns:a16="http://schemas.microsoft.com/office/drawing/2014/main" id="{42D3FE82-7FD6-C590-27CB-655CA39C2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4512" y="1889102"/>
            <a:ext cx="1798710" cy="1798710"/>
          </a:xfrm>
          <a:prstGeom prst="rect">
            <a:avLst/>
          </a:prstGeom>
        </p:spPr>
      </p:pic>
      <p:pic>
        <p:nvPicPr>
          <p:cNvPr id="27" name="Graphique 26" descr="Homme contour">
            <a:extLst>
              <a:ext uri="{FF2B5EF4-FFF2-40B4-BE49-F238E27FC236}">
                <a16:creationId xmlns:a16="http://schemas.microsoft.com/office/drawing/2014/main" id="{16C8CD2A-BAE9-D44D-08F5-06DFD92D1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933" y="1915014"/>
            <a:ext cx="1798710" cy="1798710"/>
          </a:xfrm>
          <a:prstGeom prst="rect">
            <a:avLst/>
          </a:prstGeom>
        </p:spPr>
      </p:pic>
      <p:sp>
        <p:nvSpPr>
          <p:cNvPr id="1027" name="ZoneTexte 1026">
            <a:extLst>
              <a:ext uri="{FF2B5EF4-FFF2-40B4-BE49-F238E27FC236}">
                <a16:creationId xmlns:a16="http://schemas.microsoft.com/office/drawing/2014/main" id="{1EE13571-FCE4-DEC6-A431-B638310DA5D3}"/>
              </a:ext>
            </a:extLst>
          </p:cNvPr>
          <p:cNvSpPr txBox="1"/>
          <p:nvPr/>
        </p:nvSpPr>
        <p:spPr>
          <a:xfrm>
            <a:off x="719800" y="4234157"/>
            <a:ext cx="10752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effectLst/>
                <a:latin typeface="Montserrat" pitchFamily="2" charset="0"/>
              </a:rPr>
              <a:t>Malgré une disponibilité par habitant évaluée à 2785 kcals, </a:t>
            </a:r>
            <a:r>
              <a:rPr lang="fr-FR" sz="2800" b="1" dirty="0">
                <a:solidFill>
                  <a:schemeClr val="bg1"/>
                </a:solidFill>
                <a:effectLst/>
                <a:latin typeface="Montserrat" pitchFamily="2" charset="0"/>
              </a:rPr>
              <a:t>9%</a:t>
            </a:r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 de la population est en état de sous-nutrition en Thaïlande.</a:t>
            </a:r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029" name="Graphique 1028" descr="Homme contour">
            <a:extLst>
              <a:ext uri="{FF2B5EF4-FFF2-40B4-BE49-F238E27FC236}">
                <a16:creationId xmlns:a16="http://schemas.microsoft.com/office/drawing/2014/main" id="{BA9D0415-D626-2245-A2E1-6108DD456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6411" y="1902058"/>
            <a:ext cx="1798710" cy="1798710"/>
          </a:xfrm>
          <a:prstGeom prst="rect">
            <a:avLst/>
          </a:prstGeom>
        </p:spPr>
      </p:pic>
      <p:pic>
        <p:nvPicPr>
          <p:cNvPr id="1030" name="Graphique 1029" descr="Homme contour">
            <a:extLst>
              <a:ext uri="{FF2B5EF4-FFF2-40B4-BE49-F238E27FC236}">
                <a16:creationId xmlns:a16="http://schemas.microsoft.com/office/drawing/2014/main" id="{AE4B0D5E-858B-F707-A1E9-DE21FA63C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3663" y="1902058"/>
            <a:ext cx="1798710" cy="1798710"/>
          </a:xfrm>
          <a:prstGeom prst="rect">
            <a:avLst/>
          </a:prstGeom>
        </p:spPr>
      </p:pic>
      <p:pic>
        <p:nvPicPr>
          <p:cNvPr id="1031" name="Graphique 1030" descr="Homme contour">
            <a:extLst>
              <a:ext uri="{FF2B5EF4-FFF2-40B4-BE49-F238E27FC236}">
                <a16:creationId xmlns:a16="http://schemas.microsoft.com/office/drawing/2014/main" id="{415BA16C-F503-6E0B-1EE2-93E473F72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3298" y="1902058"/>
            <a:ext cx="1798710" cy="1798710"/>
          </a:xfrm>
          <a:prstGeom prst="rect">
            <a:avLst/>
          </a:prstGeom>
        </p:spPr>
      </p:pic>
      <p:pic>
        <p:nvPicPr>
          <p:cNvPr id="1032" name="Graphique 1031" descr="Homme contour">
            <a:extLst>
              <a:ext uri="{FF2B5EF4-FFF2-40B4-BE49-F238E27FC236}">
                <a16:creationId xmlns:a16="http://schemas.microsoft.com/office/drawing/2014/main" id="{EAF8FB0D-A554-E76E-9533-0EBFE5AA1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2568" y="1908536"/>
            <a:ext cx="1798710" cy="179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42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Graphique 1025">
            <a:extLst>
              <a:ext uri="{FF2B5EF4-FFF2-40B4-BE49-F238E27FC236}">
                <a16:creationId xmlns:a16="http://schemas.microsoft.com/office/drawing/2014/main" id="{3A4B1356-3844-71C3-FCB3-CF338E26DE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1373084"/>
              </p:ext>
            </p:extLst>
          </p:nvPr>
        </p:nvGraphicFramePr>
        <p:xfrm>
          <a:off x="1351548" y="1690688"/>
          <a:ext cx="5581921" cy="4410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10. Étude sur le manioc en Thaïlande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12EDC07F-49B1-4EBC-871A-7E2E3A22382C}"/>
              </a:ext>
            </a:extLst>
          </p:cNvPr>
          <p:cNvSpPr txBox="1"/>
          <p:nvPr/>
        </p:nvSpPr>
        <p:spPr>
          <a:xfrm>
            <a:off x="2881043" y="2630504"/>
            <a:ext cx="268387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800" b="1" dirty="0">
                <a:solidFill>
                  <a:schemeClr val="bg1"/>
                </a:solidFill>
                <a:effectLst/>
                <a:latin typeface="Montserrat" pitchFamily="2" charset="0"/>
              </a:rPr>
              <a:t>83%</a:t>
            </a:r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 pour l’exportation !</a:t>
            </a:r>
          </a:p>
          <a:p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1856255-5A02-3AA7-D3F2-A7BAB32DD40F}"/>
              </a:ext>
            </a:extLst>
          </p:cNvPr>
          <p:cNvSpPr txBox="1"/>
          <p:nvPr/>
        </p:nvSpPr>
        <p:spPr>
          <a:xfrm>
            <a:off x="4368453" y="1753340"/>
            <a:ext cx="68849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effectLst/>
                <a:latin typeface="Montserrat" pitchFamily="2" charset="0"/>
              </a:rPr>
              <a:t>3% </a:t>
            </a:r>
            <a:r>
              <a:rPr lang="fr-FR" sz="2800" dirty="0">
                <a:solidFill>
                  <a:schemeClr val="bg1"/>
                </a:solidFill>
                <a:effectLst/>
                <a:latin typeface="Montserrat" pitchFamily="2" charset="0"/>
              </a:rPr>
              <a:t>seulement</a:t>
            </a:r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 pour la nourriture !</a:t>
            </a:r>
          </a:p>
          <a:p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845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B43739E5-183A-3EDE-9889-26043E91AF78}"/>
              </a:ext>
            </a:extLst>
          </p:cNvPr>
          <p:cNvSpPr txBox="1"/>
          <p:nvPr/>
        </p:nvSpPr>
        <p:spPr>
          <a:xfrm>
            <a:off x="2061728" y="2644170"/>
            <a:ext cx="80685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/>
                </a:solidFill>
                <a:latin typeface="Montserrat SemiBold" pitchFamily="2" charset="0"/>
              </a:rPr>
              <a:t>Analyses complémentaires</a:t>
            </a:r>
          </a:p>
        </p:txBody>
      </p:sp>
      <p:pic>
        <p:nvPicPr>
          <p:cNvPr id="10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8DA70E59-40C1-060B-FED2-49C3D646B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8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Aide alimentaire entre 2013 et 2016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02D70698-62DE-D3A3-8760-5E4530216D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6243154"/>
              </p:ext>
            </p:extLst>
          </p:nvPr>
        </p:nvGraphicFramePr>
        <p:xfrm>
          <a:off x="361122" y="1443841"/>
          <a:ext cx="6929120" cy="4447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2E974529-AFD9-D594-6155-D71BF7B21B0E}"/>
              </a:ext>
            </a:extLst>
          </p:cNvPr>
          <p:cNvSpPr txBox="1"/>
          <p:nvPr/>
        </p:nvSpPr>
        <p:spPr>
          <a:xfrm>
            <a:off x="7767320" y="1682504"/>
            <a:ext cx="39660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Malgré une sous-nutrition constante au cours des quatre années, l'aide alimentaire fournie en 2016 ne représente qu'</a:t>
            </a:r>
            <a:r>
              <a:rPr lang="fr-FR" sz="2800" b="1" dirty="0">
                <a:solidFill>
                  <a:schemeClr val="bg1"/>
                </a:solidFill>
                <a:latin typeface="Montserrat" pitchFamily="2" charset="0"/>
              </a:rPr>
              <a:t>un quart</a:t>
            </a:r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 de celle fournie en 2013.</a:t>
            </a:r>
          </a:p>
        </p:txBody>
      </p:sp>
    </p:spTree>
    <p:extLst>
      <p:ext uri="{BB962C8B-B14F-4D97-AF65-F5344CB8AC3E}">
        <p14:creationId xmlns:p14="http://schemas.microsoft.com/office/powerpoint/2010/main" val="265814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Haïti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893C4EF1-1104-D95A-AF59-181CCACF13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1579837"/>
              </p:ext>
            </p:extLst>
          </p:nvPr>
        </p:nvGraphicFramePr>
        <p:xfrm>
          <a:off x="779670" y="1334531"/>
          <a:ext cx="5621129" cy="2866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4AB90FB1-93C6-6E62-F5AA-7AA816695404}"/>
              </a:ext>
            </a:extLst>
          </p:cNvPr>
          <p:cNvSpPr txBox="1"/>
          <p:nvPr/>
        </p:nvSpPr>
        <p:spPr>
          <a:xfrm>
            <a:off x="7087088" y="1145286"/>
            <a:ext cx="46765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Bien qu’étant le pays avec la plus grande proportion de personnes en sous-nutrition, Haïti ne représente que </a:t>
            </a:r>
            <a:r>
              <a:rPr lang="fr-FR" sz="2800" b="1" dirty="0">
                <a:solidFill>
                  <a:schemeClr val="bg1"/>
                </a:solidFill>
                <a:effectLst/>
                <a:latin typeface="Montserrat" pitchFamily="2" charset="0"/>
              </a:rPr>
              <a:t>1% </a:t>
            </a:r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des aides alimentaires.</a:t>
            </a:r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</p:txBody>
      </p:sp>
      <p:graphicFrame>
        <p:nvGraphicFramePr>
          <p:cNvPr id="8" name="Graphique 7">
            <a:extLst>
              <a:ext uri="{FF2B5EF4-FFF2-40B4-BE49-F238E27FC236}">
                <a16:creationId xmlns:a16="http://schemas.microsoft.com/office/drawing/2014/main" id="{B6941EA5-52B6-0815-67E8-046420FF96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4593036"/>
              </p:ext>
            </p:extLst>
          </p:nvPr>
        </p:nvGraphicFramePr>
        <p:xfrm>
          <a:off x="5034017" y="4453434"/>
          <a:ext cx="6729615" cy="16809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C8D8547B-7472-E62C-E57F-8B5E3E44ED48}"/>
              </a:ext>
            </a:extLst>
          </p:cNvPr>
          <p:cNvSpPr txBox="1"/>
          <p:nvPr/>
        </p:nvSpPr>
        <p:spPr>
          <a:xfrm>
            <a:off x="779670" y="4385963"/>
            <a:ext cx="49291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0" dirty="0">
                <a:solidFill>
                  <a:schemeClr val="bg1"/>
                </a:solidFill>
                <a:effectLst/>
                <a:latin typeface="Montserrat" pitchFamily="2" charset="0"/>
              </a:rPr>
              <a:t>Le pays consacre la majeure partie de sa disponibilité pour l’alimentation humaine.</a:t>
            </a:r>
            <a:endParaRPr lang="fr-FR" sz="2800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386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8E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EA6F-B892-6E1C-A97F-DFDC4BD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Montserrat SemiBold" pitchFamily="2" charset="0"/>
              </a:rPr>
              <a:t>Corrélation entre la sous-nutrition et la disponibilité alimentaire</a:t>
            </a:r>
          </a:p>
        </p:txBody>
      </p:sp>
      <p:pic>
        <p:nvPicPr>
          <p:cNvPr id="6" name="Espace réservé du contenu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825D0E8-C0B8-C96B-298B-3AC1218CC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0" y="6231281"/>
            <a:ext cx="1462020" cy="523188"/>
          </a:xfrm>
        </p:spPr>
      </p:pic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C1F12227-038F-4AF4-6E20-C87D921D18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8330528"/>
              </p:ext>
            </p:extLst>
          </p:nvPr>
        </p:nvGraphicFramePr>
        <p:xfrm>
          <a:off x="5227762" y="1991567"/>
          <a:ext cx="6126038" cy="3938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9A096052-4DDC-B4DC-DB62-B5B48E274FC8}"/>
              </a:ext>
            </a:extLst>
          </p:cNvPr>
          <p:cNvSpPr txBox="1"/>
          <p:nvPr/>
        </p:nvSpPr>
        <p:spPr>
          <a:xfrm>
            <a:off x="838200" y="1991567"/>
            <a:ext cx="396606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Il semble y avoir une corrélation entre la </a:t>
            </a:r>
            <a:r>
              <a:rPr lang="fr-FR" sz="2800" b="1" dirty="0">
                <a:solidFill>
                  <a:schemeClr val="bg1"/>
                </a:solidFill>
                <a:latin typeface="Montserrat" pitchFamily="2" charset="0"/>
              </a:rPr>
              <a:t>disponibilité alimentaire </a:t>
            </a:r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par habitant et le taux de </a:t>
            </a:r>
            <a:r>
              <a:rPr lang="fr-FR" sz="2800" b="1" dirty="0">
                <a:solidFill>
                  <a:schemeClr val="bg1"/>
                </a:solidFill>
                <a:latin typeface="Montserrat" pitchFamily="2" charset="0"/>
              </a:rPr>
              <a:t>sous-nutrition</a:t>
            </a:r>
            <a:r>
              <a:rPr lang="fr-FR" sz="2800" dirty="0">
                <a:solidFill>
                  <a:schemeClr val="bg1"/>
                </a:solidFill>
                <a:latin typeface="Montserrat" pitchFamily="2" charset="0"/>
              </a:rPr>
              <a:t> au sein des populations des différents pays.</a:t>
            </a:r>
          </a:p>
        </p:txBody>
      </p:sp>
    </p:spTree>
    <p:extLst>
      <p:ext uri="{BB962C8B-B14F-4D97-AF65-F5344CB8AC3E}">
        <p14:creationId xmlns:p14="http://schemas.microsoft.com/office/powerpoint/2010/main" val="32418204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1EAD2AD5FF8343BBC708FF156AB9D8" ma:contentTypeVersion="13" ma:contentTypeDescription="Create a new document." ma:contentTypeScope="" ma:versionID="09120e63322ea4f8062f68fe02621938">
  <xsd:schema xmlns:xsd="http://www.w3.org/2001/XMLSchema" xmlns:xs="http://www.w3.org/2001/XMLSchema" xmlns:p="http://schemas.microsoft.com/office/2006/metadata/properties" xmlns:ns3="7b72ebc7-8d21-4e37-89cc-b6e869b9abf2" xmlns:ns4="bd7da280-1b09-42ba-aaf1-32b9a7b73086" targetNamespace="http://schemas.microsoft.com/office/2006/metadata/properties" ma:root="true" ma:fieldsID="2a0e267a963c8fc690abc3de57db9af9" ns3:_="" ns4:_="">
    <xsd:import namespace="7b72ebc7-8d21-4e37-89cc-b6e869b9abf2"/>
    <xsd:import namespace="bd7da280-1b09-42ba-aaf1-32b9a7b7308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72ebc7-8d21-4e37-89cc-b6e869b9ab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7da280-1b09-42ba-aaf1-32b9a7b7308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b72ebc7-8d21-4e37-89cc-b6e869b9abf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F28E30-55F6-43F6-9854-221222853A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72ebc7-8d21-4e37-89cc-b6e869b9abf2"/>
    <ds:schemaRef ds:uri="bd7da280-1b09-42ba-aaf1-32b9a7b730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1AE254A-A75B-4B32-A798-60FF0F2A12C5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bd7da280-1b09-42ba-aaf1-32b9a7b73086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7b72ebc7-8d21-4e37-89cc-b6e869b9abf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58A93C-27AF-424C-B997-0E809C043D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3382</TotalTime>
  <Words>803</Words>
  <Application>Microsoft Office PowerPoint</Application>
  <PresentationFormat>Grand écran</PresentationFormat>
  <Paragraphs>99</Paragraphs>
  <Slides>23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Montserrat</vt:lpstr>
      <vt:lpstr>Montserrat SemiBold</vt:lpstr>
      <vt:lpstr>Thème Office</vt:lpstr>
      <vt:lpstr>Présentation PowerPoint</vt:lpstr>
      <vt:lpstr>Présentation PowerPoint</vt:lpstr>
      <vt:lpstr>Contexte et spécification des données</vt:lpstr>
      <vt:lpstr>Méthodologie de l’analyse</vt:lpstr>
      <vt:lpstr>Présentation PowerPoint</vt:lpstr>
      <vt:lpstr>1. Proportion de personnes en état de sous-nutrition dans le monde en 2017</vt:lpstr>
      <vt:lpstr>2. Nombre théorique de personnes qui pourraient être nourries en 2017</vt:lpstr>
      <vt:lpstr>3. Nombre théorique de personnes qui pourraient être nourries uniquement avec des végétaux en 2017</vt:lpstr>
      <vt:lpstr>3. Nombre théorique de personnes qui pourraient être nourries uniquement avec des végétaux en 2017</vt:lpstr>
      <vt:lpstr>4. Répartition de la disponibilité intérieure mondiale</vt:lpstr>
      <vt:lpstr>5. Part de l'utilisation des principales céréales entre l’alimentation humaine et animale</vt:lpstr>
      <vt:lpstr>6. Liste des 10 pays où la proportion de personnes en état de sous-nutrition est la plus forte en 2017</vt:lpstr>
      <vt:lpstr>7. Liste des 10 pays qui ont le plus bénéficié de l’aide alimentaire entre 2013 et 2016 (en kg)</vt:lpstr>
      <vt:lpstr>8. Évolution de l’aide alimentaire pour les 5 pays qui en ont le plus bénéficié entre 2013 et 2016</vt:lpstr>
      <vt:lpstr>9. Liste des 10 pays qui ont la plus forte disponibilité alimentaire par habitant</vt:lpstr>
      <vt:lpstr>9. Liste des 10 pays qui ont la plus faible disponibilité alimentaire par habitant</vt:lpstr>
      <vt:lpstr>10. Étude sur le manioc en Thaïlande</vt:lpstr>
      <vt:lpstr>10. Étude sur le manioc en Thaïlande</vt:lpstr>
      <vt:lpstr>10. Étude sur le manioc en Thaïlande</vt:lpstr>
      <vt:lpstr>Présentation PowerPoint</vt:lpstr>
      <vt:lpstr>Aide alimentaire entre 2013 et 2016</vt:lpstr>
      <vt:lpstr>Haïti</vt:lpstr>
      <vt:lpstr>Corrélation entre la sous-nutrition et la disponibilité alimentaire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Hebert Thomas</dc:creator>
  <cp:lastModifiedBy>Hebert Thomas</cp:lastModifiedBy>
  <cp:revision>15</cp:revision>
  <dcterms:created xsi:type="dcterms:W3CDTF">2024-03-11T08:59:18Z</dcterms:created>
  <dcterms:modified xsi:type="dcterms:W3CDTF">2024-04-03T08:50:17Z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540963-e559-4020-8a90-fe8a502c2801_Enabled">
    <vt:lpwstr>true</vt:lpwstr>
  </property>
  <property fmtid="{D5CDD505-2E9C-101B-9397-08002B2CF9AE}" pid="3" name="MSIP_Label_19540963-e559-4020-8a90-fe8a502c2801_SetDate">
    <vt:lpwstr>2024-03-11T16:02:58Z</vt:lpwstr>
  </property>
  <property fmtid="{D5CDD505-2E9C-101B-9397-08002B2CF9AE}" pid="4" name="MSIP_Label_19540963-e559-4020-8a90-fe8a502c2801_Method">
    <vt:lpwstr>Standard</vt:lpwstr>
  </property>
  <property fmtid="{D5CDD505-2E9C-101B-9397-08002B2CF9AE}" pid="5" name="MSIP_Label_19540963-e559-4020-8a90-fe8a502c2801_Name">
    <vt:lpwstr>19540963-e559-4020-8a90-fe8a502c2801</vt:lpwstr>
  </property>
  <property fmtid="{D5CDD505-2E9C-101B-9397-08002B2CF9AE}" pid="6" name="MSIP_Label_19540963-e559-4020-8a90-fe8a502c2801_SiteId">
    <vt:lpwstr>f25493ae-1c98-41d7-8a33-0be75f5fe603</vt:lpwstr>
  </property>
  <property fmtid="{D5CDD505-2E9C-101B-9397-08002B2CF9AE}" pid="7" name="MSIP_Label_19540963-e559-4020-8a90-fe8a502c2801_ActionId">
    <vt:lpwstr>911e5b0d-c7c4-4797-8de8-b80796590193</vt:lpwstr>
  </property>
  <property fmtid="{D5CDD505-2E9C-101B-9397-08002B2CF9AE}" pid="8" name="MSIP_Label_19540963-e559-4020-8a90-fe8a502c2801_ContentBits">
    <vt:lpwstr>0</vt:lpwstr>
  </property>
  <property fmtid="{D5CDD505-2E9C-101B-9397-08002B2CF9AE}" pid="9" name="ContentTypeId">
    <vt:lpwstr>0x010100CA1EAD2AD5FF8343BBC708FF156AB9D8</vt:lpwstr>
  </property>
</Properties>
</file>